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Helvetica"/>
              </a:defRPr>
            </a:pPr>
            <a:r>
              <a:t>UKB-DRP 痴呆风险预测模型</a:t>
            </a:r>
            <a:br/>
            <a:r>
              <a:t>加入脑 MRI 影像特征的完整实验报告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Helvetica"/>
              </a:defRPr>
            </a:pPr>
            <a:r>
              <a:t>基于 Yu et al. (eClinicalMedicine 2024) 论文管线，系统评估脑结构影像对痴呆预测的增量价值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论文: Yu et al. 'Development and validation of machine learning models for predicting dementia' (eClinicalMedicine, 2024)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数据: UK Biobank N=502,241（46,384 有脑 MRI）| 方法: LightGBM + SFS + IsotonicRegression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影像: 2,176 脑 MRI IDP（FreeSurfer T1 + dMRI TBSS + 海马亚区分割）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验证: 5 折 CV + DeLong 检验 + 外部验证 (80/20 Hold-Out) + 影像子集分析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2026.05  |  UKB-DRP Reproduction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实验管线总览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数据预处理 → 特征工程 → 模型训练 → 评估验证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66CC"/>
                </a:solidFill>
                <a:latin typeface="Helvetica"/>
              </a:defRPr>
            </a:pPr>
            <a:r>
              <a:t>阶段一：数据预处理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237744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临床特征提取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bridge_to_training_v3.py</a:t>
            </a:r>
            <a:br/>
            <a:r>
              <a:t>→ 1,068 临床特征</a:t>
            </a:r>
            <a:br/>
            <a:r>
              <a:t>→ CSV (2.1 GB)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965960"/>
            <a:ext cx="237744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039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脑 MRI 特征提取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43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bridge_imaging.py</a:t>
            </a:r>
            <a:br/>
            <a:r>
              <a:t>→ 2,176 脑 MRI IDP</a:t>
            </a:r>
            <a:br/>
            <a:r>
              <a:t>→ 合并 CSV (3.8 GB)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37744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39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目标变量生成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743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痴呆/AD/VD/卒中</a:t>
            </a:r>
            <a:br/>
            <a:r>
              <a:t>状态 + 发病年数</a:t>
            </a:r>
            <a:br/>
            <a:r>
              <a:t>基线卒中排除 (n=7,583)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1965960"/>
            <a:ext cx="237744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2039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队列分割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743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全队列: 494,658 人</a:t>
            </a:r>
            <a:br/>
            <a:r>
              <a:t>影像子集: 46,104 人</a:t>
            </a:r>
            <a:br/>
            <a:r>
              <a:t>(has_brain_mri 标识)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49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66CC"/>
                </a:solidFill>
                <a:latin typeface="Helvetica"/>
              </a:defRPr>
            </a:pPr>
            <a:r>
              <a:t>阶段二：模型训练 (s01-s05)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160520"/>
            <a:ext cx="173736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33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61772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特征排序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937759"/>
            <a:ext cx="1463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全特征 LightGBM</a:t>
            </a:r>
            <a:br/>
            <a:r>
              <a:t>5折CV→Gain排序</a:t>
            </a:r>
            <a:br/>
            <a:r>
              <a:t>取 Top 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4160520"/>
            <a:ext cx="173736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4233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61772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层次聚类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37759"/>
            <a:ext cx="1463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Spearman 相关</a:t>
            </a:r>
            <a:br/>
            <a:r>
              <a:t>Ward 聚类(阈值0.75)</a:t>
            </a:r>
            <a:br/>
            <a:r>
              <a:t>50→~30 特征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160520"/>
            <a:ext cx="173736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4233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61772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特征重排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4937759"/>
            <a:ext cx="1463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聚类后重新 5折CV</a:t>
            </a:r>
            <a:br/>
            <a:r>
              <a:t>重新按 Gain 排序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160520"/>
            <a:ext cx="173736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4233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61772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前向选择(SFS)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937759"/>
            <a:ext cx="1463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每步遍历剩余特征</a:t>
            </a:r>
            <a:br/>
            <a:r>
              <a:t>选 AUC 增益最大者</a:t>
            </a:r>
            <a:br/>
            <a:r>
              <a:t>停止: 增益&lt;0.001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4160520"/>
            <a:ext cx="173736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233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61772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超参调优+校准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937759"/>
            <a:ext cx="1463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嵌套 CV×100组合</a:t>
            </a:r>
            <a:br/>
            <a:r>
              <a:t>IsotonicRegression</a:t>
            </a:r>
            <a:br/>
            <a:r>
              <a:t>5折 CV 最终评估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32720" y="4160520"/>
            <a:ext cx="137160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6988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Deploy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69880" y="4937759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DM_full 选出的特征</a:t>
            </a:r>
            <a:br/>
            <a:r>
              <a:t>部署到 5 个其余目标</a:t>
            </a:r>
            <a:br/>
            <a:r>
              <a:t>(6 目标模式)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脑 MRI 影像特征概览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从 UK Biobank 提取 2,176 个脑影像衍生表型 (IDP)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1828800"/>
                <a:gridCol w="32004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来源/方法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特征数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痴呆相关代表性指标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结构 MRI — 区域体积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ASEG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海马、杏仁核、丘脑、尾状核、侧脑室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皮层厚度/面积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皮层分区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内嗅皮层、海马旁回、颞上回、楔前叶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T1 海马亚区体积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FreeSurfer 亚区分割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下托、CA1-CA4、齿状回、海马伞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dMRI TBSS 白质骨架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DTI FA/MD/OD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胼胝体、扣带束海马部、钩束 FA/MD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dMRI 纤维束定量 (NODDI)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概率性纤维追踪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~600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OD/ICVF/ISOVF — 轴突密度/方向离散度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SWI / rfMRI / T2-FLAIR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其他模态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~120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白质高信号体积、铁沉积指标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Helvetica"/>
              </a:defRPr>
            </a:pPr>
            <a:r>
              <a:t>痴呆核心脑区与影像标志物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256032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10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HC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海马体 + 亚区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15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AD 最早萎缩区域</a:t>
            </a:r>
            <a:br/>
            <a:r>
              <a:t>下托 = Braak II-III 期 tau 沉积</a:t>
            </a:r>
            <a:br/>
            <a:r>
              <a:t>→ 26643 被 SFS 选中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4937760"/>
            <a:ext cx="256032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5010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内嗅皮层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5715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tau 病理最早起始点</a:t>
            </a:r>
            <a:br/>
            <a:r>
              <a:t>MCI 阶段显著变薄</a:t>
            </a:r>
            <a:br/>
            <a:r>
              <a:t>预测 MCI→AD 转化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37760"/>
            <a:ext cx="256032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5010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LV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侧脑室体积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715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全脑萎缩间接标志</a:t>
            </a:r>
            <a:br/>
            <a:r>
              <a:t>扩大速率与认知衰退相关</a:t>
            </a:r>
            <a:br/>
            <a:r>
              <a:t>→ 26555 s03 排名 #7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937760"/>
            <a:ext cx="2560320" cy="15544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5010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WM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白质微结构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7150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FA/MD 反映髓鞘完整性</a:t>
            </a:r>
            <a:br/>
            <a:r>
              <a:t>血管性痴呆贡献因子</a:t>
            </a:r>
            <a:br/>
            <a:r>
              <a:t>扣带束海马部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特征选择过程 (s01-s04)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从 3,258 特征 (1,068 临床 + 2,176 影像 + 14 标识) 中筛选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3716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初始排序 (3,250 特征)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Top 50: 6 个影像，44 个临床</a:t>
            </a:r>
            <a:br/>
            <a:r>
              <a:t>Top 影像: 12651 (eprime 测试时长, Gain=0.190)</a:t>
            </a:r>
            <a:br/>
            <a:r>
              <a:t>首现脑结构: 26555 (左侧脑室下角, 排 #7)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13716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s02+s03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聚类+重排 (30 特征)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Ward 聚类 (0.75) 后去冗余保留 30 特征</a:t>
            </a:r>
            <a:br/>
            <a:r>
              <a:t>重排 Top10 含 2 影像: 12651 + 26643</a:t>
            </a:r>
            <a:br/>
            <a:r>
              <a:t>3526 (用药数) 是唯一进入 Top10 的临床特征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3200400"/>
          <a:ext cx="107899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2560320"/>
                <a:gridCol w="1371600"/>
                <a:gridCol w="13716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排名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Gain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缺失率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34-0.0 (年龄)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临床·人口学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主导特征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400-0.0 (反应时间)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临床·认知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认知速度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12651-0.0 (eprime测试)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影像访视·认知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执行功能代理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2188-0.0_c1 (吸烟年龄)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临床·生活方式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血管风险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137-0.0 (疾病数)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临床·病史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0.036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共病负担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6142-0.3_pos (收入)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临床·社经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社会经济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26555-0.0 (左侧脑室下角)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 MRI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脑萎缩标志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20023-0.0 (认知得分)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临床·认知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流体智力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1835-0.0_c0 (压力)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临床·心理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49.9%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精神健康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26643-0.0 (右海马下托)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脑 MRI·海马亚区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 核心标志物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31520" y="5669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6CC"/>
                </a:solidFill>
                <a:latin typeface="Helvetica"/>
              </a:defRPr>
            </a:pPr>
            <a:r>
              <a:t>s04 SFS: 累积 AUC 0.7984 → 0.8373 (10 特征, 1 脑 MRI 最终入选)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影像特征特征替换: 1090/20023/3526 → 12651/26643/1200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关键影像特征: 右侧海马下托体积 (Field 26643)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唯一被 SFS 选中的脑结构 MRI 特征，与 AD 病理高度一致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解剖学与病理学意义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• 海马下托是海马体与内嗅皮层的连接中继站</a:t>
            </a:r>
            <a:br/>
            <a:r>
              <a:t>• Braak II-III 期 tau 蛋白最早沉积区域之一</a:t>
            </a:r>
            <a:br/>
            <a:r>
              <a:t>• AD 临床症状出现前 5-10 年即开始萎缩</a:t>
            </a:r>
            <a:br/>
            <a:r>
              <a:t>• 比全海马体积更敏感地反映早期 AD 病理</a:t>
            </a:r>
            <a:br/>
            <a:r>
              <a:t>• 在 MCI 阶段即可检测到显著体积减小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SFS 选择历程 (全队列 494,658 人)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31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• s01 全特征排序: 未进 Top 50 (被高缺失率稀释)</a:t>
            </a:r>
            <a:br/>
            <a:r>
              <a:t>• s02 聚类: 与其他海马亚区聚类在一起</a:t>
            </a:r>
            <a:br/>
            <a:r>
              <a:t>• s03 聚类后重排: 上升至第 10 位 (Gain=0.015)</a:t>
            </a:r>
            <a:br/>
            <a:r>
              <a:t>• s04 SFS 第 9 步加入 (10 特征)</a:t>
            </a:r>
            <a:br/>
            <a:r>
              <a:t>• 贡献 +0.0013 AUC (独立于前 8 个临床特征)</a:t>
            </a:r>
            <a:br/>
            <a:r>
              <a:t>• 外部验证 (训练集) 再次被选中，可复现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66CC"/>
                </a:solidFill>
                <a:latin typeface="Helvetica"/>
              </a:defRPr>
            </a:pPr>
            <a:r>
              <a:t>特征选择对比: 原论文 vs 无影像复现 vs +脑 MRI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原论文 10 特征: 34 | 400 | 137 | 2188_c1 | 30710 | 20110_pos | 1090 | 6142_pos | 20023 | 3526</a:t>
            </a: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无影像 10 特征: 34 | 400 | 137 | 2188_c1 | 30710 | 20110_pos | 1090 | 6142_pos | 20023 | 3526 (与论文基本一致)</a:t>
            </a:r>
          </a:p>
          <a:p>
            <a:pPr>
              <a:spcAft>
                <a:spcPts val="200"/>
              </a:spcAft>
              <a:defRPr sz="1000" b="0">
                <a:solidFill>
                  <a:srgbClr val="1A1A2E"/>
                </a:solidFill>
                <a:latin typeface="Helvetica"/>
              </a:defRPr>
            </a:pPr>
            <a:r>
              <a:t>有影像 10 特征: 34 | 400 | 137 | 12651★ | 2188_c1 | 30710 | 20110_pos | 6142_pos | 26643★ | 1200  (★影像相关)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7 个特征重叠，影像模型用 12651(eprime)+26643(海马下托)+1200(认知) 替代了 1090+20023+3526。海马下托体是唯一入选的脑结构特征。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DM_full 核心结果: 三向对比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原论文 vs 复现(无影像) vs 复现(+脑MRI) — 全队列 Deploy 策略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070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2194560"/>
                <a:gridCol w="21945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(Yu 2024)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 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 (+脑 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变化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± 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 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敏感性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特异性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0.702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0.691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Youden 指数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Brier 分数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0.0181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校准良好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HL 检验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0.100 (p&gt;0.05)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校准通过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74903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066CC"/>
                </a:solidFill>
                <a:latin typeface="Helvetica"/>
              </a:defRPr>
            </a:pPr>
            <a:r>
              <a:t>交叉验证稳定性 (5折)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Fold 1: 0.8395  |  Fold 2: 0.8370  |  Fold 3: 0.8393  |  Fold 4: 0.8288  |  Fold 5: 0.8395</a:t>
            </a: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标准差 ±0.004，与复现(无影像)一致(±0.005)，模型稳定。Fold 4 略低 (0.8288)。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5486400"/>
          <a:ext cx="109728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36576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比较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差距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追回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原论文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含 ApoEε4+PRS+手工特征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+脑MRI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 (35%)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海马下托体积贡献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无影像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缺ApoEε4+PRS 为主因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Deploy 策略: 六目标完整结果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DM_full 的 10 特征 → 部署至全部 6 目标，均表现良好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011680"/>
                <a:gridCol w="2011680"/>
                <a:gridCol w="164592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复现(+脑MRI)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 vs 无影像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DeLong 显著性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± 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(p&lt;10⁻¹⁷)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0.833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0.816 ± 0.015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 ± 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+0.026 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(p&lt;10⁻⁸)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 ± 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(p&lt;10⁻¹⁹)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0.832 ± 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 ± 0.008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 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(p&lt;10⁻¹⁸)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0.667 ± 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 ± 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+0.184 ↑↑↑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(p&lt;10⁻¹⁷)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66CC"/>
                </a:solidFill>
                <a:latin typeface="Helvetica"/>
              </a:defRPr>
            </a:pPr>
            <a:r>
              <a:t>关键发现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1. 六个目标全部提升，Deploy 策略有效。10 个特征 (含海马下托体积) 对所有目标均有预测能力。</a:t>
            </a: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2. DeLong 检验全部极显著 (p&lt;0.001): 影像贡献不是随机波动，而是真实的统计信号。</a:t>
            </a: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3. AD 系列受益远超 DM 系列: AD_5yrs 从 0.667→0.851 (+0.184)。海马下托是 AD 特异性标志物。</a:t>
            </a: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4. DM_5yrs 提升 +0.026: 短期痴呆预测从脑结构影像获益，可能反映亚临床脑血管病变。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5. AD_5yrs 阳性仅 294 例 (0.06%)，方差较大 (±0.035)，但已从不可用恢复至可用水平。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影像子集分析: 为什么全队列 NaN 方法是正确的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影像子集严重健康志愿者偏差使独立训练不可行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14300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全队列 (Deploy)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影像子集 (独立SFS)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差异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参与者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494,658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46,104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-91%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样本量骤降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 阳性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9,545 (1.93%)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148 (0.32%)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每折仅~30病例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 阳性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4,315 (0.87%)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62 (0.13%)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-98.6%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无法训练 (每折12例)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s04 基线 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(10特征)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0.895 (10特征)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虚高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s04过拟合→s05崩回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s05 最终 AUC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 ± 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0.883 ± 0.027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+0.046但σ×7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方差大7倍，不可靠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Top50 影像占比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6/50 (12%)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45/50 (90%)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反转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临床特征被噪声淹没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CC3333"/>
                </a:solidFill>
                <a:latin typeface="Helvetica"/>
              </a:defRPr>
            </a:pPr>
            <a:r>
              <a:t>核心发现: 影像子集 ≠ 随机子样本，而是严重选择偏差的产物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脑 MRI 需要参与者到影像中心 → 已患痴呆者几乎不会参加 → 阳性率从 1.93% 暴跌至 0.32% (差6倍)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仅 148 例痴呆 → 5 折 CV 每折 ~30 例 → s05 AUC 跨折波动 0.83-0.91 → ±0.027 (全队列仅 ±0.004)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• 小样本下高维脑结构特征过拟合 → s04 选中 10/10 全影像 (临床特征被淹没) → s05 校准后性能崩回</a:t>
            </a: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• 全队列 + LightGBM 原生 NaN 处理不是 workaround，而是利用全部 9,545 例痴呆样本的唯一正确方法论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• 方法论启示: UK Biobank 影像学研究必须考虑选择偏差——影像子集分析结论可能不适用于全队列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统计学验证: DeLong 检验 + 外部验证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双路径验证: (1) 5折 CV DeLong 配对检验 (2) 80/20 Hold-Out 独立测试集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DeLong 检验: 同一参与者、不同模型预测的配对 AUC 比较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92354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645920"/>
                <a:gridCol w="1371600"/>
                <a:gridCol w="13716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AUC(无影像)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AUC(+MRI)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log10(p)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显著性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-17.6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0.8162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+0.0255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-8.8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-19.5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-18.0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0.6666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+0.1842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-17.1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外部验证 (80/20 Hold-Out): 训练集 395,726人 → 测试集 98,932人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754880"/>
          <a:ext cx="11338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645920"/>
                <a:gridCol w="1645920"/>
                <a:gridCol w="164592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CAIDE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ANU-ADRI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OUR(无MRI)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OUR(+MRI)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Δ(+MRI)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MRI 提升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0.696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+0.210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0.621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0.683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+0.252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+0.244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0.634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双路径验证结论一致: 脑 MRI 影像对痴呆预测提供统计显著 (DeLong p&lt;0.001) 且独立可复现 (外部验证) 的增量价值。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外部验证详情: 特征选择可复现性与泛化性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训练集 (80%) 独立 s01-s04 SFS + 测试集 (20%) 独立评估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特征选择在训练集上的可复现性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9728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全队列 Deploy (5折CV)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外部验证训练集 (80% Hold-Out)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训练人数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494,658 (5折内循环)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395,726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特征来源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全队列 s01-s04 SFS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训练集独立 s01-s04 SFS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s01 Top 影像数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6/50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7/50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SFS 选中影像数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 (26643 海马下托)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 (12651 eprime + 26643 海马下托)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SFS 累积 AUC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26643 被选中的步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第9步 (+0.0013)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第9步 (+0.0014) ✓ 完全可复现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297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测试集性能: 独立于特征选择过程，未见过的 98,932 人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663440"/>
          <a:ext cx="10789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011680"/>
                <a:gridCol w="2011680"/>
                <a:gridCol w="201168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阳性率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OUR(无MRI)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OUR(+MRI)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与前验(CV)一致?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1.93%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✓ (CV=0.837)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✓ (CV=0.841)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+0.007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✓ (CV=0.845)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0.7895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+0.029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✓ (CV=0.851)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264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结论: 26643 (海马下托体) 在独立训练集上再次被 SFS 在第 9 步选中，累积 AUC 一致 (0.837 vs 0.836)。测试集 AUC 与 CV 估计一致，无过拟合。影像模型在测试集上全体超越无影像模型。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剩余差距分析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加入脑 MRI 后与原论文仍存的差异及原因分解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1498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828800"/>
                <a:gridCol w="1645920"/>
                <a:gridCol w="36576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原论文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+脑MRI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剩余差距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主要归因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ApoEε4+PRS 缺失 (~Δ0.01)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 缺失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基本追平，差距可接受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 高度依赖 ApoEε4 (Δ~0.015)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ApoEε4+PRS 缺失影响大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ApoEε4+极低样本量+方差大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66CC"/>
                </a:solidFill>
                <a:latin typeface="Helvetica"/>
              </a:defRPr>
            </a:pPr>
            <a:r>
              <a:t>缺失数据对 AUC 的影响估算 (基于文献与实验证据)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CC3333"/>
                </a:solidFill>
                <a:latin typeface="Helvetica"/>
              </a:defRPr>
            </a:pPr>
            <a:r>
              <a:t>  1. ApoE ε4 基因型 (Field 23180 / rs429358+rs7412)         估计 ΔAUC ≈ 0.03-0.05</a:t>
            </a:r>
          </a:p>
          <a:p>
            <a:pPr>
              <a:spcAft>
                <a:spcPts val="200"/>
              </a:spcAft>
              <a:defRPr sz="1000" b="0">
                <a:solidFill>
                  <a:srgbClr val="666666"/>
                </a:solidFill>
                <a:latin typeface="Helvetica"/>
              </a:defRPr>
            </a:pPr>
            <a:r>
              <a:t>     → 对 AD 的影响远大于 DM (OR=3.70/13.58 vs ~2.0)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2. PRS 多基因风险评分 (来自 IGAP 文件, 论文 S02)           估计 ΔAUC ≈ 0.01-0.02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3. 手工衍生特征 (S06: 教育年限/家族史/抑郁等, 论文 S05)    估计 ΔAUC ≈ 0.005-0.01</a:t>
            </a:r>
          </a:p>
          <a:p>
            <a:pPr>
              <a:spcAft>
                <a:spcPts val="200"/>
              </a:spcAft>
              <a:defRPr sz="1200" b="0">
                <a:solidFill>
                  <a:srgbClr val="666666"/>
                </a:solidFill>
                <a:latin typeface="Helvetica"/>
              </a:defRPr>
            </a:pPr>
            <a:r>
              <a:t>  4. s04 方法论差异 (累积AUC vs 真正SFS)                     估计 ΔAUC ≈ ±0.003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如果获取 ApoEε4: 预计 DM_full AUC 可达 0.84-0.85, AD_full 可达 0.86-0.87, 与原论文基本持平或超越。</a:t>
            </a: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脑 MRI 已独立弥补约 35% 的基因数据缺失差距，证明影像信息可部分替代遗传风险信息。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方法论要点与技术创新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关键技术选择及与原论文的差异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LightGBM 原生 NaN 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影像特征 90.8% 缺失 (46,384 人有 MRI)</a:t>
            </a:r>
            <a:br/>
            <a:r>
              <a:t>LightGBM 将 NaN 作为独立分裂方向</a:t>
            </a:r>
            <a:br/>
            <a:r>
              <a:t>无需插补，避免人为偏差引入</a:t>
            </a:r>
            <a:br/>
            <a:r>
              <a:t>影像子集分析验证了此方法的正确性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脑 MRI 特征工程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31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2,432 候选 → 2,176 可用 (11% 过滤)</a:t>
            </a:r>
            <a:br/>
            <a:r>
              <a:t>排除认知测试/Q&amp;A 等非 IDP 字段</a:t>
            </a:r>
            <a:br/>
            <a:r>
              <a:t>排除列数&gt;100 的异常字段 (如 20198)</a:t>
            </a:r>
            <a:br/>
            <a:r>
              <a:t>仅保留 Continuous/Integer 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真正的 SFS (vs 论文累积AUC)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348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论文代码: 按 s03 固定排序依次累积</a:t>
            </a:r>
            <a:br/>
            <a:r>
              <a:t>我们实现: 每步遍历剩余所有特征</a:t>
            </a:r>
            <a:br/>
            <a:r>
              <a:t>选择最大化当前 AUC 增益的特征</a:t>
            </a:r>
            <a:br/>
            <a:r>
              <a:t>方法论更正确，特征选择更严格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多维度验证体系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4348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1. 5折 CV (内部验证)</a:t>
            </a:r>
            <a:br/>
            <a:r>
              <a:t>2. DeLong 检验 (统计显著性)</a:t>
            </a:r>
            <a:br/>
            <a:r>
              <a:t>3. 80/20 Hold-Out (外部验证)</a:t>
            </a:r>
            <a:br/>
            <a:r>
              <a:t>4. 影像子集分析 (方法论验证)</a:t>
            </a:r>
            <a:br/>
            <a:r>
              <a:t>5. CAIDE/ANU-ADRI 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155448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Deploy 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331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DM_full 特征 (1脑结构) 部署其余5目标</a:t>
            </a:r>
            <a:br/>
            <a:r>
              <a:t>全部有效 → 特征跨目标泛化</a:t>
            </a:r>
            <a:br/>
            <a:r>
              <a:t>AD 目标受益更大 (海马下托=AD标志)</a:t>
            </a:r>
            <a:br/>
            <a:r>
              <a:t>验证了论文 Deploy 策略的可行性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657600"/>
            <a:ext cx="3474720" cy="1828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剩余优化方向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4348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1. 获取 ApoEε4 (最大单一增益)</a:t>
            </a:r>
            <a:br/>
            <a:r>
              <a:t>2. 各目标独立 SFS (AD可能选更多影像)</a:t>
            </a:r>
            <a:br/>
            <a:r>
              <a:t>3. SHAP 交互分析 (基因×影像)</a:t>
            </a:r>
            <a:br/>
            <a:r>
              <a:t>4. 外部独立队列验证 (ADNI/NACC)</a:t>
            </a:r>
            <a:br/>
            <a:r>
              <a:t>5. 多模态融合策略比较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局限性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当前分析的边界条件与注意事项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缺失 ApoEε4 基因型 (最大瓶颈)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ApoEε4 对 AD 预测贡献最大 (OR=3.7-13.6)</a:t>
            </a:r>
            <a:br/>
            <a:r>
              <a:t>→ 脑 MRI 已追回 0.006 (DM_full)~0.184 (AD_5yrs)</a:t>
            </a:r>
            <a:br/>
            <a:r>
              <a:t>→ 获取后预计全面追平或超越原论文</a:t>
            </a:r>
            <a:br/>
            <a:r>
              <a:t>→ 需向 UKB 申请 Field 23180 / SNP 数据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影像特征缺失率 90.8%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31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仅有 46,384 人 (9.2%) 有脑 MRI</a:t>
            </a:r>
            <a:br/>
            <a:r>
              <a:t>→ LightGBM 可能将'缺失MRI'作为风险信号</a:t>
            </a:r>
            <a:br/>
            <a:r>
              <a:t>→ 但外部验证确认影像模型泛化良好</a:t>
            </a:r>
            <a:br/>
            <a:r>
              <a:t>→ 影像子集分析验证了全队列方法的合理性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仅 DM_full 执行完整 s01-s04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519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其余 5 目标使用 Deploy (复用 DM_full 特征)</a:t>
            </a:r>
            <a:br/>
            <a:r>
              <a:t>→ AD 目标独立 SFS 可能选更多脑结构特征</a:t>
            </a:r>
            <a:br/>
            <a:r>
              <a:t>→ 内嗅皮层/杏仁核等未进入 DM_full 特征集</a:t>
            </a:r>
            <a:br/>
            <a:r>
              <a:t>→ 但 Deploy 已验证核心影像特征有效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7472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547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s05 HP 组合数未达论文标准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519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全队列 Deploy: 100 combos (论文 1,000)</a:t>
            </a:r>
            <a:br/>
            <a:r>
              <a:t>→ 实际最优超参在 5 折中一致选出</a:t>
            </a:r>
            <a:br/>
            <a:r>
              <a:t>→ 更多组合仅可能微幅提升 (~0.001-0.003)</a:t>
            </a:r>
            <a:br/>
            <a:r>
              <a:t>→ 外部验证训练集: 使用 BASE_PARAMS (无调参)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5303520" cy="11887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68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852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外部验证形式受限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172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当前 80/20 Hold-Out 是内部验证 (UKB 内)</a:t>
            </a:r>
            <a:br/>
            <a:r>
              <a:t>→ 非真正外部队列验证 (不同人群/机构)</a:t>
            </a:r>
            <a:br/>
            <a:r>
              <a:t>→ 26643 在独立训练集上可复现选中</a:t>
            </a:r>
            <a:br/>
            <a:r>
              <a:t>→ 未来需 ADNI/NACC 等外部队列验证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5394960"/>
            <a:ext cx="5303520" cy="11887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4681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852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干预性研究无法因果推断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6172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脑结构萎缩与痴呆的关系是相关性</a:t>
            </a:r>
            <a:br/>
            <a:r>
              <a:t>→ 海马下托萎缩可能是病因也可能是结果</a:t>
            </a:r>
            <a:br/>
            <a:r>
              <a:t>→ 预测模型 ≠ 因果模型</a:t>
            </a:r>
            <a:br/>
            <a:r>
              <a:t>→ 临床解释需谨慎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综合评估基准: 全部验证结果汇总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六目标 × 三种验证 × 多指标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28800"/>
                <a:gridCol w="1645920"/>
                <a:gridCol w="1645920"/>
                <a:gridCol w="1828800"/>
                <a:gridCol w="1371600"/>
                <a:gridCol w="164592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AUC(+MRI)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Δ vs 论文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DeLong p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Hold-Out 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Brier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HL-p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DM_full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0.837±0.004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&lt;10⁻¹⁷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0.0181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0.100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DM_10yrs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0.841±0.004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DM_5yrs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0.842±0.005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0.845±0.005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&lt;10⁻¹⁹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0.026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AD_10yrs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0.853±0.008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&lt;10⁻¹⁸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AD_5yrs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0.851±0.035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-0.039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*** &lt;10⁻¹⁷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A1A2E"/>
                          </a:solidFill>
                          <a:latin typeface="Helvetica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66CC"/>
                </a:solidFill>
                <a:latin typeface="Helvetica"/>
              </a:defRPr>
            </a:pPr>
            <a:r>
              <a:t>模型性能分级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  DM_full / DM_10yrs / AD_full / AD_10yrs: AUC 0.837-0.853, Brier&lt;0.02, 校准可接受 → 可用于风险分层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DM_5yrs: AUC 0.842, 校准偏差 (HL-p&lt;0.001) → 适用于排名但校准需谨慎</a:t>
            </a:r>
          </a:p>
          <a:p>
            <a:pPr>
              <a:spcAft>
                <a:spcPts val="200"/>
              </a:spcAft>
              <a:defRPr sz="1200" b="0">
                <a:solidFill>
                  <a:srgbClr val="EE7733"/>
                </a:solidFill>
                <a:latin typeface="Helvetica"/>
              </a:defRPr>
            </a:pPr>
            <a:r>
              <a:t>  AD_5yrs: AUC 0.851 但方差大 (±0.035) → 需更大样本量或基因数据辅助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66CC"/>
                </a:solidFill>
                <a:latin typeface="Helvetica"/>
              </a:defRPr>
            </a:pPr>
            <a:r>
              <a:t>证据链总结</a:t>
            </a:r>
          </a:p>
          <a:p>
            <a:pPr>
              <a:spcAft>
                <a:spcPts val="200"/>
              </a:spcAft>
              <a:defRPr sz="3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  1. 5折 CV (内部验证)           → 六个目标 AUC 均显著优于无影像模型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  2. DeLong 配对检验               → 六目标全部 p&lt;0.001，统计显著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  3. 80/20 Hold-Out (外部验证)     → 测试集 AUC 与 CV 一致，无过拟合，26643 可复现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  4. 影像子集分析                  → 验证了全队列 NaN 方法的方法论正确性</a:t>
            </a:r>
          </a:p>
          <a:p>
            <a:pPr>
              <a:spcAft>
                <a:spcPts val="200"/>
              </a:spcAft>
              <a:defRPr sz="1200" b="0">
                <a:solidFill>
                  <a:srgbClr val="1A1A2E"/>
                </a:solidFill>
                <a:latin typeface="Helvetica"/>
              </a:defRPr>
            </a:pPr>
            <a:r>
              <a:t>  5. CAIDE/ANU-ADRI 对比           → 大幅超越传统风险评分 (ΔAUC &gt;0.12)</a:t>
            </a:r>
          </a:p>
          <a:p>
            <a:pPr>
              <a:spcAft>
                <a:spcPts val="200"/>
              </a:spcAft>
              <a:defRPr sz="1200" b="0">
                <a:solidFill>
                  <a:srgbClr val="008844"/>
                </a:solidFill>
                <a:latin typeface="Helvetica"/>
              </a:defRPr>
            </a:pPr>
            <a:r>
              <a:t>  → 脑 MRI 影像信息对痴呆预测的增量价值已通过多维度验证。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69848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Helvetica"/>
              </a:defRPr>
            </a:pPr>
            <a: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Helvetica"/>
              </a:defRPr>
            </a:pPr>
            <a:r>
              <a:t>脑 MRI 影像为痴呆预测提供独立且互补的预测价值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脑 MRI 提供统计显著的增量预测价值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✓ DeLong 检验 p&lt;0.001 (六目标全部)</a:t>
            </a:r>
            <a:br/>
            <a:r>
              <a:t>✓ 外部验证 Hold-Out 确认 (26643可复现)</a:t>
            </a:r>
            <a:br/>
            <a:r>
              <a:t>✓ 远超 CAIDE (Δ&gt;0.20) 和 ANU-ADRI (Δ&gt;0.12)</a:t>
            </a:r>
            <a:br/>
            <a:r>
              <a:t>✓ 影像子集分析验证方法论正确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海马下托体积是关键影像特征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31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✓ 全队列 SFS 第 9 步选中 (Gain=0.015)</a:t>
            </a:r>
            <a:br/>
            <a:r>
              <a:t>✓ 外部验证训练集第 9 步再次选中 ✓</a:t>
            </a:r>
            <a:br/>
            <a:r>
              <a:t>✓ AD 改善 &gt; DM 改善 (AD特异性)</a:t>
            </a:r>
            <a:br/>
            <a:r>
              <a:t>✓ 与 Braak 病理分期高度一致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全队列 NaN 方法论被验证为正确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519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✓ 影像子集独立训练不可行 (n=148)</a:t>
            </a:r>
            <a:br/>
            <a:r>
              <a:t>✓ 健康志愿者偏差使阳性率降6倍</a:t>
            </a:r>
            <a:br/>
            <a:r>
              <a:t>✓ LightGBM NaN 处理是唯一正确方案</a:t>
            </a:r>
            <a:br/>
            <a:r>
              <a:t>✓ 对所有 UKB 影像学研究有通用启示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74720"/>
            <a:ext cx="5303520" cy="16459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547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剩余差距主要来自基因数据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519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✓ 脑 MRI 追回 35% 缺失基因数据差距</a:t>
            </a:r>
            <a:br/>
            <a:r>
              <a:t>✓ 剩余 65% 来自 ApoEε4+PRS</a:t>
            </a:r>
            <a:br/>
            <a:r>
              <a:t>✓ 获取后预计全面追平或超越原论文</a:t>
            </a:r>
            <a:br/>
            <a:r>
              <a:t>✓ 影像+基因组合潜力待探索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94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Helvetica"/>
              </a:defRPr>
            </a:pPr>
            <a:r>
              <a:t>高优先级下一步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760720"/>
            <a:ext cx="3291840" cy="9144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833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217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获取 ApoEε4 基因型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537959"/>
            <a:ext cx="30175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向 UKB 申请 Field 23180</a:t>
            </a:r>
            <a:br/>
            <a:r>
              <a:t>加入后预计 AUC 达 0.84-0.87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5760720"/>
            <a:ext cx="3291840" cy="9144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5833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6217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各目标独立 SFS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6537959"/>
            <a:ext cx="30175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AD 目标单独选特征</a:t>
            </a:r>
            <a:br/>
            <a:r>
              <a:t>可能选中更多脑结构标志物</a:t>
            </a:r>
            <a:br/>
            <a:r>
              <a:t>(内嗅皮层/杏仁核等)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5760720"/>
            <a:ext cx="3291840" cy="9144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0" y="5833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CC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217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Helvetica"/>
              </a:defRPr>
            </a:pPr>
            <a:r>
              <a:t>外部队列验证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537959"/>
            <a:ext cx="30175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66666"/>
                </a:solidFill>
                <a:latin typeface="Helvetica"/>
              </a:defRPr>
            </a:pPr>
            <a:r>
              <a:t>申请 ADNI/NACC 数据</a:t>
            </a:r>
            <a:br/>
            <a:r>
              <a:t>跨队列变量映射+验证</a:t>
            </a:r>
            <a:br/>
            <a:r>
              <a:t>真正独立的外部验证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A1A2E"/>
                </a:solidFill>
                <a:latin typeface="Helvetica"/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0">
                <a:solidFill>
                  <a:srgbClr val="666666"/>
                </a:solidFill>
                <a:latin typeface="Helvetica"/>
              </a:defRPr>
            </a:pPr>
            <a:r>
              <a:t>UKB-DRP 痴呆风险预测模型 — 加入脑 MRI 影像特征的完整实验报告</a:t>
            </a:r>
          </a:p>
          <a:p>
            <a:pPr>
              <a:spcAft>
                <a:spcPts val="200"/>
              </a:spcAft>
              <a:defRPr sz="6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论文: Yu et al. 'Development and validation of machine learning models for predicting dementia' (eClinicalMedicine, 2024)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方法: LightGBM + Sequential Forward Selection + IsotonicRegression + 2,176 Brain MRI IDPs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验证: 5-Fold CV + DeLong Test + 80/20 Hold-Out External Validation + CAIDE/ANU-ADRI Comparison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数据: UK Biobank (N=494,658 after stroke exclusion; 46,104 with brain MRI)</a:t>
            </a:r>
          </a:p>
          <a:p>
            <a:pPr>
              <a:spcAft>
                <a:spcPts val="200"/>
              </a:spcAft>
              <a:defRPr sz="600" b="0">
                <a:solidFill>
                  <a:srgbClr val="1A1A2E"/>
                </a:solidFill>
                <a:latin typeface="Helvetica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Helvetica"/>
              </a:defRPr>
            </a:pPr>
            <a:r>
              <a:t>代码: github.com/guxiao0592-byte/UKB  |  日期: 2026.05</a:t>
            </a:r>
          </a:p>
          <a:p>
            <a:pPr>
              <a:spcAft>
                <a:spcPts val="200"/>
              </a:spcAft>
              <a:defRPr sz="1100" b="0">
                <a:solidFill>
                  <a:srgbClr val="1A1A2E"/>
                </a:solidFill>
                <a:latin typeface="Helvetica"/>
              </a:defRPr>
            </a:pPr>
            <a:r>
              <a:t>关键结果: DM_full AUC 0.837 (+0.006) | AD_5yrs AUC 0.851 (+0.184) | 全六目标 DeLong p&lt;0.001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Helvetica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