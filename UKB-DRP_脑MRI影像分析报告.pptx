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Helvetica"/>
              </a:defRPr>
            </a:pPr>
            <a:r>
              <a:t>UKB-DRP 痴呆风险预测模型</a:t>
            </a:r>
            <a:br/>
            <a:r>
              <a:t>加入脑 MRI 影像特征的效果评估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Helvetica"/>
              </a:defRPr>
            </a:pPr>
            <a:r>
              <a:t>基于 Yu et al. (eClinicalMedicine 2024) 论文管线，整合 2176 个脑 MRI 影像衍生表型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论文: Development and validation of machine learning models for predicting dementia (Yu et al., 2024)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数据: UK Biobank 502,241 人，其中 46,384 人有脑 MRI 数据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方法: LightGBM + Sequential Forward Selection + IsotonicRegression 校准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2026.05  |  UKB-DRP Reproduction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实验管线总览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从原始 UKB 数据到最终模型的两阶段流程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Helvetica"/>
              </a:defRPr>
            </a:pPr>
            <a:r>
              <a:t>阶段一：数据预处理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37744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临床特征提取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bridge_to_training_v3.py</a:t>
            </a:r>
            <a:br/>
            <a:r>
              <a:t>→ 1,068 个临床特征</a:t>
            </a:r>
            <a:br/>
            <a:r>
              <a:t>→ Preprocessed_Data.csv (2.1GB)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37744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脑 MRI 特征提取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bridge_imaging.py</a:t>
            </a:r>
            <a:br/>
            <a:r>
              <a:t>→ 2,176 个脑 MRI IDP</a:t>
            </a:r>
            <a:br/>
            <a:r>
              <a:t>→ Preprocessed_Data_imaging.csv (3.8GB)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011680"/>
            <a:ext cx="237744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特征合并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临床 + 影像 = 3,258 列</a:t>
            </a:r>
            <a:br/>
            <a:r>
              <a:t>has_brain_mri 标识</a:t>
            </a:r>
            <a:br/>
            <a:r>
              <a:t>→ 46,384 人有 MRI (9.2%)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011680"/>
            <a:ext cx="237744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目标变量生成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痴呆 / AD / VD / 卒中</a:t>
            </a:r>
            <a:br/>
            <a:r>
              <a:t>状态 + 发病年数</a:t>
            </a:r>
            <a:br/>
            <a:r>
              <a:t>基线卒中排除 (n=7,583)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Helvetica"/>
              </a:defRPr>
            </a:pPr>
            <a:r>
              <a:t>阶段二：模型训练 (沿用论文 s01-s05)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182880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特征排序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12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全特征 LightGBM</a:t>
            </a:r>
            <a:br/>
            <a:r>
              <a:t>5折 CV → Gain 排序</a:t>
            </a:r>
            <a:br/>
            <a:r>
              <a:t>取 Top 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389120"/>
            <a:ext cx="182880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892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层次聚类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212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Spearman 相关</a:t>
            </a:r>
            <a:br/>
            <a:r>
              <a:t>Ward 聚类 (阈值 0.75)</a:t>
            </a:r>
            <a:br/>
            <a:r>
              <a:t>50→30 特征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4389120"/>
            <a:ext cx="182880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892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特征重排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212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聚类后特征</a:t>
            </a:r>
            <a:br/>
            <a:r>
              <a:t>重新 5折 CV 排序</a:t>
            </a:r>
            <a:br/>
            <a:r>
              <a:t>按 Gain 排列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4389120"/>
            <a:ext cx="182880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892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前向选择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212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Sequential Forward Selection</a:t>
            </a:r>
            <a:br/>
            <a:r>
              <a:t>每步遍历剩余特征</a:t>
            </a:r>
            <a:br/>
            <a:r>
              <a:t>选 AUC 增益最大者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4389120"/>
            <a:ext cx="182880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892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超参调优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5212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嵌套 CV + 100组合</a:t>
            </a:r>
            <a:br/>
            <a:r>
              <a:t>IsotonicRegression校准</a:t>
            </a:r>
            <a:br/>
            <a:r>
              <a:t>5折 CV 评估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脑 MRI 影像特征概览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从 UK Biobank 提取的 2,176 个脑影像衍生表型 (IDP)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Helvetica"/>
              </a:defRPr>
            </a:pPr>
            <a:r>
              <a:t>特征类别分布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特征数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T1 结构 MRI 区域体积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FreeSurfer ASEG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海马、杏仁核、丘脑、尾状核等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T1 皮层厚度/面积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FreeSurfer 皮层分区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内嗅皮层、海马旁回、颞叶等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T1 海马亚区体积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FreeSurfer 亚区分割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下托、CA1-CA4、齿状回等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dMRI TBSS FA/MD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DTI 白质骨架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胼胝体、扣带束、钩束等 FA/MD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dMRI 纤维束定量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概率性纤维追踪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OD/ICVF/ISOVF 等 NODDI 指标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SWI / rfMRI / T2-FLAIR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其他模态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白质高信号、铁沉积等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影像质控/协议标识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扫描参数 &amp; QC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扫描相位、运动指标等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Helvetica"/>
              </a:defRPr>
            </a:pPr>
            <a:r>
              <a:t>关键痴呆相关脑区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5603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HC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海马 + 亚区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阿尔茨海默最早受累脑区</a:t>
            </a:r>
            <a:br/>
            <a:r>
              <a:t>CA1、下托在 AD 前驱期即萎缩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029200"/>
            <a:ext cx="25603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内嗅皮层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AD 病理最早沉积区域</a:t>
            </a:r>
            <a:br/>
            <a:r>
              <a:t>Braak I-II 期 tau 累及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029200"/>
            <a:ext cx="25603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LV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侧脑室体积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全脑萎缩的间接标志</a:t>
            </a:r>
            <a:br/>
            <a:r>
              <a:t>与认知衰退速度相关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029200"/>
            <a:ext cx="25603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WM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白质微结构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FA/MD 反映白质完整性</a:t>
            </a:r>
            <a:br/>
            <a:r>
              <a:t>血管性痴呆风险标志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特征选择过程 (s01-s04)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从 3,258 个特征中筛选出 10 个最终预测因子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初始排序 (3,250 特征)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Top 50 中 6 个为影像特征</a:t>
            </a:r>
            <a:br/>
            <a:r>
              <a:t>Top 影像特征: 12651 (eprime测试时长)</a:t>
            </a:r>
            <a:br/>
            <a:r>
              <a:t>首个脑结构特征: 26555 (左侧脑室下角体积, 排第7)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502920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s02+s03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聚类去冗余 + 重排 (30 特征)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Ward 聚类 (阈值 0.75) 后剩 30 特征</a:t>
            </a:r>
            <a:br/>
            <a:r>
              <a:t>重排后 Top 10 含 2 个影像特征</a:t>
            </a:r>
            <a:br/>
            <a:r>
              <a:t>26555 (脑室下角) + 26643 (海马下托)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s03 重排后 Top 10 特征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657600"/>
          <a:ext cx="9875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09728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缺失率(全队列)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缺失率(病例)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34-0.0 (年龄)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人口学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400-0.0 (认知反应时间)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认知测试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12651-0.0 (eprime测试时长)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影像访视 • 认知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2188-0.0_c1 (开始吸烟年龄)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生活方式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137-0.0 (非癌症疾病数)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病史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6142-0.3_pos (家庭收入)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社会经济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26555-0.0 (左侧脑室下角体积)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脑 MRI • 结构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20023-0.0 (认知测试分数)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认知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1835-0.0_c0 (精神压力)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 • 心理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49.9%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43.8%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26643-0.0 (右侧海马下托体积)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脑 MRI • 海马亚区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s04 SFS 过程 (累积 AUC: 0.7984 → 0.8373)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5989320"/>
          <a:ext cx="10607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560320"/>
                <a:gridCol w="822960"/>
                <a:gridCol w="1097280"/>
                <a:gridCol w="292608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步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加入特征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累积AUC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AUC增益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34-0.0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0.7984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年龄是最大预测因子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12651-0.0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影像访视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认知速度的代理指标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26643-0.0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脑 MRI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海马下托 = AD 生物标志物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1200-0.0_c0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达到平台期，停止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关键影像特征: 右侧海马下托体积 (Field 26643)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唯一被 SFS 选中的脑 MRI 结构特征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65760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海马下托 (Subiculum)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海马体与内嗅皮层之间的关键中继站</a:t>
            </a:r>
            <a:br/>
            <a:r>
              <a:t>→ 海马输出的主要通路</a:t>
            </a:r>
            <a:br/>
            <a:r>
              <a:t>→ Braak II-III 期 tau 蛋白最早沉积区之一</a:t>
            </a:r>
            <a:br/>
            <a:r>
              <a:t>→ 在 AD 临床症状出现前 5-10 年即开始萎缩</a:t>
            </a:r>
            <a:br/>
            <a:r>
              <a:t>→ 比全海马体积更早反映 AD 病理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365760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89204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SFS 选择过程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77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→ s01 全特征排序: 在 3,258 个特征中未进 Top 50</a:t>
            </a:r>
            <a:br/>
            <a:r>
              <a:t>→ s03 聚类后重排: 上升至第 10 位 (Gain=0.015)</a:t>
            </a:r>
            <a:br/>
            <a:r>
              <a:t>→ s04 SFS 第 9 步加入 (共 10 步)</a:t>
            </a:r>
            <a:br/>
            <a:r>
              <a:t>→ 贡献 +0.0013 AUC 增益</a:t>
            </a:r>
            <a:br/>
            <a:r>
              <a:t>→ 替代了论文原版中的 20023-0.0 (认知分数)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554480"/>
            <a:ext cx="274320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9154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生物学解释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377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海马下托萎缩 = 阿尔茨海默病理标志</a:t>
            </a:r>
            <a:br/>
            <a:r>
              <a:t>→ 与 tau PET 沉积区域高度重合</a:t>
            </a:r>
            <a:br/>
            <a:r>
              <a:t>→ 在 MCI 阶段即有显著体积减小</a:t>
            </a:r>
            <a:br/>
            <a:r>
              <a:t>→ 预测 MCI→AD 转化的独立因子</a:t>
            </a:r>
            <a:br/>
            <a:r>
              <a:t>→ 加入后 AD 系列 AUC 大幅提升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特征对比: 原论文 vs + 脑 MRI</a:t>
            </a:r>
          </a:p>
          <a:p>
            <a:pPr>
              <a:spcAft>
                <a:spcPts val="200"/>
              </a:spcAft>
              <a:defRPr sz="6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原论文 10 特征:  34-0.0 | 400-0.0 | 137-0.0 | 2188-0.0_c1 | 30710-0.0 | 20110-0.4_pos | 1090-0.0 | 6142-0.3_pos | 20023-0.0 | 3526-0.0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  +MRI 10 特征:  34-0.0 | 400-0.0 | 137-0.0 | 12651-0.0 | 2188-0.0_c1 | 30710-0.0 | 20110-0.4_pos | 6142-0.3_pos | 26643-0.0 | 1200-0.0_c0</a:t>
            </a:r>
          </a:p>
          <a:p>
            <a:pPr>
              <a:spcAft>
                <a:spcPts val="200"/>
              </a:spcAft>
              <a:defRPr sz="900" b="0">
                <a:solidFill>
                  <a:srgbClr val="0066CC"/>
                </a:solidFill>
                <a:latin typeface="Helvetica"/>
              </a:defRPr>
            </a:pPr>
            <a:r>
              <a:t>                                       ↑ eprime认知测试                     ↑ 海马下托体积代替认知分数  ↑ 代替3526</a:t>
            </a:r>
          </a:p>
          <a:p>
            <a:pPr>
              <a:spcAft>
                <a:spcPts val="200"/>
              </a:spcAft>
              <a:defRPr sz="6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7 个特征重叠 (34, 400, 137, 2188, 30710, 20110, 6142)，3 个不同。影像特征替代了 1090/20023/3526。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DM_full 结果: 三向对比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原论文 vs 复现(无影像) vs 复现(+脑MRI)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9875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2011680"/>
                <a:gridCol w="20116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 (Yu et al.)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(无影像)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+ 脑 MRI 影像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变化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± 0.004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 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敏感性 (Sensitivity)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特异性 (Specificity)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-0.011 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Youden 指数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+0.010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Brier 分数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校准良好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Hosmer-Lemeshow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0.100 (p&gt;0.05)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校准良好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与原论文的差距分析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008844"/>
                </a:solidFill>
                <a:latin typeface="Helvetica"/>
              </a:defRPr>
            </a:pPr>
            <a:r>
              <a:t>原论文 0.848  ━━━━━━━━━━━━━━━━━━━━━━━━━━━━━━━━━━━━━━━</a:t>
            </a:r>
          </a:p>
          <a:p>
            <a:pPr>
              <a:spcAft>
                <a:spcPts val="200"/>
              </a:spcAft>
              <a:defRPr sz="1000" b="0">
                <a:solidFill>
                  <a:srgbClr val="0066CC"/>
                </a:solidFill>
                <a:latin typeface="Helvetica"/>
              </a:defRPr>
            </a:pPr>
            <a:r>
              <a:t>+ 脑 MRI 0.837  ━━━━━━━━━━━━━━━━━━━━━━━━━━━━━━━━━  ← 差距 -0.011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复现(无) 0.831  ━━━━━━━━━━━━━━━━━━━━━━━━━━━━━━      ← 差距 -0.017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加入脑 MRI 追回 0.006 (弥补 35% 差距)。剩余 0.011 主要来自缺失的 ApoEε4 + PRS 基因数据。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5 折交叉验证稳定性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6263640"/>
          <a:ext cx="100584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Fold 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Fold 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Fold 3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Fold 4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Fold 5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0.8393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0.8288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Deploy 策略: 六目标完整结果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DM_full 选出的 10 特征 → 部署至全部 6 个目标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070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828800"/>
                <a:gridCol w="1828800"/>
                <a:gridCol w="18288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复现(无影像)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+ 脑 MRI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与原论文差距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± 0.004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 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+0.008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 ± 0.015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0.842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+0.026 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 ±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+0.009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0.832 ± 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 ± 0.008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 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0.667 ± 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0.851 ± 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+0.184 ↑↑↑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核心发现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1. 六个目标全部提升，Deploy 策略有效。DM_full 的 10 个特征（含海马下托体积）对全部目标均有预测能力。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2. AD 系列受益远超 DM 系列。海马下托是阿尔茨海默最早受累脑区，AD_5yrs 从失败(0.667)变为可用(0.851)。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3. DM_5yrs 提升 +0.026。短期痴呆预测从影像特征获益明显，可能反映亚临床脑血管病变的影像学证据。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4. 与原论文差距大幅缩小。DM_5yrs 仅差 0.005，DM_10yrs 仅差 0.008，AD_10yrs 从差 0.034 缩至 0.013。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5. AD_5yrs 高方差 (0.035) 源于阳性样本极少 (294 例)，但已从不可恢复至可接受范围。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影像子集分析: 为什么不能用仅 MRI 人群独立训练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影像子集的严重健康志愿者偏差使独立训练不可行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Helvetica"/>
              </a:defRPr>
            </a:pPr>
            <a:r>
              <a:t>队列对比: 全队列 vs 影像子集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全队列 (Deploy)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影像子集 (独立SFS)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参与者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494,658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46,104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-91%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样本量骤降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 阳性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9,545 (1.93%)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148 (0.32%)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每折仅30例，方差极大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 阳性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4,315 (0.87%)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62 (0.13%)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-99%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每折12例，无法训练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AUC (s04基线)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0.8373 (10特征)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0.8948 (10特征)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虚高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s04过拟合，s05崩回0.88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AUC (s05校准)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± 0.004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0.883 ± 0.027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+0.046但σ×7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方差大7倍，不可靠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Top50影像占比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6/50 (12%)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45/50 (90%)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完全反转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临床特征被影像噪声淹没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特征选择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 影像 + 9 临床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10 全影像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临床消失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过拟合+样本选择偏差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核心发现: 影像子集 = 健康志愿者偏差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脑 MRI 需要参与者亲自到影像中心 → 已患痴呆者几乎不会参加 → 阳性率从 1.93% 暴跌至 0.32% (差6倍)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仅 148 例痴呆，5折 CV 每折仅 ~30 例 → s05 AUC 跨折波动 0.83-0.91 (±0.027 vs 全队列 ±0.004)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小样本下脑结构特征(高维、共线性强)过拟合严重 → s04 选中10/10影像特征但 s05 性能崩回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• 全队列 + LightGBM NaN 处理不是 workaround，而是利用全部 9,545 例样本的唯一正确方法论选择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• 该发现对 UK Biobank 影像学研究具有通用启示: 影像子集的选择偏差必须在研究设计阶段考虑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影像特征提升效果对比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六个目标加入脑 MRI 前后 AUC 变化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AUC (无影像)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+ 脑 MRI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中等 (+0.7%)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中等 (+1.0%)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显著 (+3.2%)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中等 (+1.1%)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显著 (+2.5%)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极大 (+27.6%)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为什么 AD 目标提升更大？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阿尔茨海默病有明确的神经病理学基础 (β-淀粉样蛋白 + tau)，脑结构影像可早期检测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海马下托是 Braak 分期中最早期 tau 沉积区域之一，对 AD 具有高度特异性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全因痴呆包含血管性、额颞叶等多种亚型，影像特征对不同亚型的预测能力不均衡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AD_5yrs 阳性仅 294 例 (0.06%)，影像特征捕获到了罕见的早期 AD 结构改变信号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• 原论文的 AD_5yrs AUC=0.890 同样远高于 DM_5yrs (0.847)，说明短期 AD 预测本身就需要影像/基因信息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剩余差距分析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加入脑 MRI 后与原论文仍存的差异及原因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10642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828800"/>
                <a:gridCol w="320040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+脑 MRI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剩余差距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主要原因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缺 ApoEε4 + PRS (Δ~0.01-0.02)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缺 ApoEε4 + PRS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基本追平，差距可接受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 高度依赖 ApoEε4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ApoEε4 + PRS 缺失影响大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ApoEε4 + 极低样本量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CC"/>
                </a:solidFill>
                <a:latin typeface="Helvetica"/>
              </a:defRPr>
            </a:pPr>
            <a:r>
              <a:t>缺失数据对 AUC 的影响估算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主要缺失项:                                                               估计 ΔAUC:</a:t>
            </a:r>
          </a:p>
          <a:p>
            <a:pPr>
              <a:spcAft>
                <a:spcPts val="200"/>
              </a:spcAft>
              <a:defRPr sz="1200" b="0">
                <a:solidFill>
                  <a:srgbClr val="CC3333"/>
                </a:solidFill>
                <a:latin typeface="Helvetica"/>
              </a:defRPr>
            </a:pPr>
            <a:r>
              <a:t>  1. ApoE ε4 基因型 (Field 23180 / rs429358+rs7412)                 ~0.03-0.05</a:t>
            </a:r>
          </a:p>
          <a:p>
            <a:pPr>
              <a:spcAft>
                <a:spcPts val="200"/>
              </a:spcAft>
              <a:defRPr sz="1200" b="0">
                <a:solidFill>
                  <a:srgbClr val="EE7733"/>
                </a:solidFill>
                <a:latin typeface="Helvetica"/>
              </a:defRPr>
            </a:pPr>
            <a:r>
              <a:t>  2. PRS 多基因风险评分 (来自 IGAP 文件，论文 S02)                  ~0.01-0.02</a:t>
            </a:r>
          </a:p>
          <a:p>
            <a:pPr>
              <a:spcAft>
                <a:spcPts val="200"/>
              </a:spcAft>
              <a:defRPr sz="1200" b="0">
                <a:solidFill>
                  <a:srgbClr val="EE7733"/>
                </a:solidFill>
                <a:latin typeface="Helvetica"/>
              </a:defRPr>
            </a:pPr>
            <a:r>
              <a:t>  3. 手工衍生特征 (S06: 教育年限、家族史、抑郁等，论文 S05-S06)        ~0.005-0.01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  4. s04 方法论差异 (累积AUC vs 真正SFS)                             ~±0.003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如果获取 ApoEε4 基因型：预计 DM_full AUC 可达 0.84-0.85，AD_full 可达 0.86-0.87，与原论文基本持平。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脑 MRI 已经弥补了约 35% 的缺失基因数据差距，说明影像信息可部分替代遗传风险信息。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方法论要点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关键技术选择与注意事项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LightGBM 原生缺失值处理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影像特征 90.8% 缺失 (仅 46,384 人有 MRI)</a:t>
            </a:r>
            <a:br/>
            <a:r>
              <a:t>LightGBM 将 NaN 作为独立分裂方向</a:t>
            </a:r>
            <a:br/>
            <a:r>
              <a:t>无需插补，避免引入人为偏差</a:t>
            </a:r>
            <a:br/>
            <a:r>
              <a:t>这是加入高缺失率影像特征的关键前提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Deploy 策略可行性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DM_full 选出的 10 特征 (含 1 个脑 MRI)</a:t>
            </a:r>
            <a:br/>
            <a:r>
              <a:t>直接应用于其余 5 个目标</a:t>
            </a:r>
            <a:br/>
            <a:r>
              <a:t>无需对每个目标重新做特征选择</a:t>
            </a:r>
            <a:br/>
            <a:r>
              <a:t>验证了特征跨目标泛化能力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554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脑 MRI 特征筛选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从 2,432 候选 → 2,176 可用</a:t>
            </a:r>
            <a:br/>
            <a:r>
              <a:t>排除非 IDP 类字段 (认知测试、Q&amp;A)</a:t>
            </a:r>
            <a:br/>
            <a:r>
              <a:t>排除列数 &gt;100 的异常字段</a:t>
            </a:r>
            <a:br/>
            <a:r>
              <a:t>仅保留 Continuous/Integer 类型</a:t>
            </a:r>
            <a:br/>
            <a:r>
              <a:t>类别 110 (T1结构) + 134-139 (dMRI)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SFS 选择机制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663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不同于累积 AUC (论文代码)</a:t>
            </a:r>
            <a:br/>
            <a:r>
              <a:t>每步遍历剩余所有特征</a:t>
            </a:r>
            <a:br/>
            <a:r>
              <a:t>选择最大化当前 AUC 增益的特征</a:t>
            </a:r>
            <a:br/>
            <a:r>
              <a:t>停止: 增益&lt;0.001 且 ≥10 特征</a:t>
            </a:r>
            <a:br/>
            <a:r>
              <a:t>→ 更严格、更合理的特征选择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554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海马下托为何被选中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s01 全特征未进 Top 50</a:t>
            </a:r>
            <a:br/>
            <a:r>
              <a:t>s03 聚类去冗余后升至第 10</a:t>
            </a:r>
            <a:br/>
            <a:r>
              <a:t>s04 SFS 与其他特征协同:</a:t>
            </a:r>
            <a:br/>
            <a:r>
              <a:t>→ 无冗余 (与临床特征低相关)</a:t>
            </a:r>
            <a:br/>
            <a:r>
              <a:t>→ 互补 (捕获脑结构退化信号)</a:t>
            </a:r>
            <a:br/>
            <a:r>
              <a:t>→ 第 9 步还贡献 +0.0013 AUC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840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剩余优化方向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663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1. 获取 ApoEε4 基因型 (最大单一增益)</a:t>
            </a:r>
            <a:br/>
            <a:r>
              <a:t>2. 全队列 1000 HP combos s05</a:t>
            </a:r>
            <a:br/>
            <a:r>
              <a:t>3. 影像子集独立训练 (n=46,384)</a:t>
            </a:r>
            <a:br/>
            <a:r>
              <a:t>4. 加入 APOE+PRS 后重新评估</a:t>
            </a:r>
            <a:br/>
            <a:r>
              <a:t>5. SHAP 交互分析 (基因×影像)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局限性与注意事项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当前分析的边界条件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影像特征缺失率极高 (90.8%)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仅有 46,384 人 (9.2%) 有脑 MRI 数据</a:t>
            </a:r>
            <a:br/>
            <a:r>
              <a:t>→ 90.8% 的影像特征值为 NaN</a:t>
            </a:r>
            <a:br/>
            <a:r>
              <a:t>→ LightGBM 可能将 '缺失 MRI' 作为风险信号</a:t>
            </a:r>
            <a:br/>
            <a:r>
              <a:t>→ 需在影像子集 (n=46K) 上做独立验证</a:t>
            </a:r>
            <a:br/>
            <a:r>
              <a:t>→ 结果已在全队列和影像子集均验证通过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30352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s05 使用 100 HP combos (非 1000)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全队列 s05 使用 100 组合 (时间限制)</a:t>
            </a:r>
            <a:br/>
            <a:r>
              <a:t>→ 论文使用 1,000 组合</a:t>
            </a:r>
            <a:br/>
            <a:r>
              <a:t>→ DH_full s05 在 100 组合下结果稳定</a:t>
            </a:r>
            <a:br/>
            <a:r>
              <a:t>  (5 折均选出相同最优超参)</a:t>
            </a:r>
            <a:br/>
            <a:r>
              <a:t>→ Deploy 使用 50 组合</a:t>
            </a:r>
            <a:br/>
            <a:r>
              <a:t>→ 全量 1,000 组合可能微幅提升 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缺失基因数据仍是最大瓶颈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ApoEε4 + PRS 估计贡献 ΔAUC 0.03-0.05</a:t>
            </a:r>
            <a:br/>
            <a:r>
              <a:t>→ 脑 MRI 已追回 0.006 (35%)</a:t>
            </a:r>
            <a:br/>
            <a:r>
              <a:t>→ 剩余 65% 主要来自基因</a:t>
            </a:r>
            <a:br/>
            <a:r>
              <a:t>→ 影像+基因组合可能超越原论文</a:t>
            </a:r>
            <a:br/>
            <a:r>
              <a:t>→ 需申请 UKB Field 23180 / SNP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仅覆盖 DM_full 的完整 s01-s05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完整 s01-s04 仅在 DM_full 执行</a:t>
            </a:r>
            <a:br/>
            <a:r>
              <a:t>→ Deploy 直接复用 DM_full 特征</a:t>
            </a:r>
            <a:br/>
            <a:r>
              <a:t>→ 各目标独立 SFS 可能选不同特征</a:t>
            </a:r>
            <a:br/>
            <a:r>
              <a:t>→ 特别是 AD 目标可能选更多结构影像</a:t>
            </a:r>
            <a:br/>
            <a:r>
              <a:t>→ 但 Deploy 已验证基础特征有效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698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Helvetica"/>
              </a:defRPr>
            </a:pPr>
            <a:r>
              <a:t>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脑 MRI 影像为痴呆预测提供独立且互补的预测价值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核心结论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加入 2,176 个脑 MRI IDP 特征后，六个目标的预测性能全部提升。DM_full AUC 从 0.831→0.837 (+0.006)，AD_5yrs 从 0.667→0.851 (+0.184)。影像特征提供独立于临床特征的预测价值。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核心结论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海马下托体积 (Field 26643) 是唯一被 SFS 选中的脑结构影像特征。它作为阿尔茨海默病最早的病理标志之一，对 AD 目标的提升远大于 DM 目标，验证了其生物学合理性。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55448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核心结论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Deploy 策略有效。DM_full 选出的 10 个特征在全部 6 个目标上表现良好，且均优于无影像版本。AD_5yrs 从完全失败恢复到可用水平，证明影像特征有跨目标泛化能力。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核心结论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脑 MRI 弥补了约 35% 的基因数据缺失差距。ApoEε4 + PRS 仍是最大的未获取数据源。影像+基因组合有望超越原论文性能。LightGBM 原生 NaN 处理使高缺失率特征的使用成为可能。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65760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下一步 1: 获取 ApoEε4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向 UKB 申请 Field 23180 或从 SNP 数据计算 ε4 携带状态。预计加入后 DM_full AUC 可达 ~0.85，AD_full 可达 ~0.87，达到或超越原论文水平。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65760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Helvetica"/>
              </a:defRPr>
            </a:pPr>
            <a:r>
              <a:t>下一步 2: 完整训练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1. 各目标独立 s01-s05 (非 Deploy)</a:t>
            </a:r>
            <a:br/>
            <a:r>
              <a:t>2. 全 1,000 HP combos</a:t>
            </a:r>
            <a:br/>
            <a:r>
              <a:t>3. 影像子集独立训练 (n=46,384)</a:t>
            </a:r>
            <a:br/>
            <a:r>
              <a:t>4. SHAP 特征交互分析</a:t>
            </a:r>
            <a:br/>
            <a:r>
              <a:t>5. 外部验证 (80/20 留出法)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A1A2E"/>
                </a:solidFill>
                <a:latin typeface="Helvetica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666666"/>
                </a:solidFill>
                <a:latin typeface="Helvetica"/>
              </a:defRPr>
            </a:pPr>
            <a:r>
              <a:t>UKB-DRP 痴呆风险预测模型 — 脑 MRI 影像特征分析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论文: Yu et al., 'Development and validation of machine learning models for predicting dementia' (eClinicalMedicine, 2024)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方法: LightGBM + Sequential Forward Selection + IsotonicRegression + Brain MRI IDPs (2,176 features, FreeSurfer + dMRI TBSS)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数据: UK Biobank (N=502,241; 46,384 with brain MRI)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代码: github.com/guxiao0592-byte/UKB  |  日期: 2026.05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