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Helvetica"/>
              </a:defRPr>
            </a:pPr>
            <a:r>
              <a:t>UKB-DRP 痴呆风险预测模型</a:t>
            </a:r>
            <a:br/>
            <a:r>
              <a:t>论文复现、扩展评估与脑 MRI 影像增强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Helvetica"/>
              </a:defRPr>
            </a:pPr>
            <a:r>
              <a:t>从原论文复现到脑结构影像增强的完整实验研究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论文: Yu et al. 'Development and validation of machine learning models for predicting dementia' (eClinicalMedicine, 2024)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数据: UK Biobank N=502,241 | 方法: LightGBM + SFS + IsotonicRegression | 影像: 2,176 Brain MRI IDPs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实验阶段: 论文复现 → 扩展评估 → 风险评分对比 → 外部验证 → 脑 MRI 影像增强 → 统计检验 → 方法论验证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2026.05  |  UKB-DRP Reproduction Project  |  github.com/guxiao0592-byte/UKB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三大实验阶段 × 完整验证体系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论文复现与对比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2140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数据管线复现</a:t>
            </a:r>
            <a:br/>
            <a:r>
              <a:t>• s01-s05 训练复现</a:t>
            </a:r>
            <a:br/>
            <a:r>
              <a:t>• 六目标结果对比</a:t>
            </a:r>
            <a:br/>
            <a:r>
              <a:t>• 方法论差异识别</a:t>
            </a:r>
            <a:br/>
            <a:r>
              <a:t>• 数据缺口分析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8470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扩展评估与验证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12140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决策曲线(DCA)</a:t>
            </a:r>
            <a:br/>
            <a:r>
              <a:t>• 风险分层</a:t>
            </a:r>
            <a:br/>
            <a:r>
              <a:t>• CAIDE/ANU-ADRI 对比</a:t>
            </a:r>
            <a:br/>
            <a:r>
              <a:t>• 外部验证(80/20)</a:t>
            </a:r>
            <a:br/>
            <a:r>
              <a:t>• DeLong 统计检验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470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脑 MRI 影像增强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12140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2,176 IDP 特征提取</a:t>
            </a:r>
            <a:br/>
            <a:r>
              <a:t>• 全队列训练 (NaN处理)</a:t>
            </a:r>
            <a:br/>
            <a:r>
              <a:t>• 六目标 Deploy</a:t>
            </a:r>
            <a:br/>
            <a:r>
              <a:t>• 影像子集分析</a:t>
            </a:r>
            <a:br/>
            <a:r>
              <a:t>• 外部验证再确认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86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24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统计验证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9884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DeLong 配对检验</a:t>
            </a:r>
            <a:br/>
            <a:r>
              <a:t>• 外部 Hold-Out 验证</a:t>
            </a:r>
            <a:br/>
            <a:r>
              <a:t>• 影像子集方法论验证</a:t>
            </a:r>
            <a:br/>
            <a:r>
              <a:t>• CAIDE/ANU-ADRI 基准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886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4224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综合基准与结论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49884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六目标三验证汇总</a:t>
            </a:r>
            <a:br/>
            <a:r>
              <a:t>• 差距分析与归因</a:t>
            </a:r>
            <a:br/>
            <a:r>
              <a:t>• 方法论创新</a:t>
            </a:r>
            <a:br/>
            <a:r>
              <a:t>• 下一步计划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474720" cy="20116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4224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附录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49884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论文 vs 复现 16 步对照</a:t>
            </a:r>
            <a:br/>
            <a:r>
              <a:t>• 代码仓库与运行命令</a:t>
            </a:r>
            <a:br/>
            <a:r>
              <a:t>• PPT 生成脚本</a:t>
            </a:r>
            <a:br/>
            <a:r>
              <a:t>• 实验日志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Helvetica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Helvetica"/>
              </a:defRPr>
            </a:pPr>
            <a:r>
              <a:t>论文复现与原论文对比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Yu et al. (eClinicalMedicine 2024) 的独立复现 — 找出差异、量化影响、识别边界条件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复现管线: 两条路径对比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论文原始代码 vs 我们的复现代码 — 数据格式不同，方法论逻辑一致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6666"/>
                </a:solidFill>
                <a:latin typeface="Helvetica"/>
              </a:defRPr>
            </a:pPr>
            <a:r>
              <a:t>论文管线 (Original)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21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ukb45628.csv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366字段+基因数据</a:t>
            </a:r>
            <a:br/>
            <a:r>
              <a:t>直接读取CSV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737360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2121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S01-S06 数据工程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3957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S01卒中合并 S02 PRS</a:t>
            </a:r>
            <a:br/>
            <a:r>
              <a:t>S03目标 S04特征合并</a:t>
            </a:r>
            <a:br/>
            <a:r>
              <a:t>S05手工剔除 S06手工特征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737360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2121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s01-s05 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3957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s01-s03 特征排序</a:t>
            </a:r>
            <a:br/>
            <a:r>
              <a:t>s04 累积AUC(代码)</a:t>
            </a:r>
            <a:br/>
            <a:r>
              <a:t>s05 CCV校准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121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Deploy 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957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DM_full特征→6目标</a:t>
            </a:r>
            <a:br/>
            <a:r>
              <a:t>IsotonicRegression</a:t>
            </a:r>
            <a:br/>
            <a:r>
              <a:t>手动校准(Deploy脚本)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CC"/>
                </a:solidFill>
                <a:latin typeface="Helvetica"/>
              </a:defRPr>
            </a:pPr>
            <a:r>
              <a:t>复现管线 (Reproduction)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features/*.npz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40740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7,968原始字段</a:t>
            </a:r>
            <a:br/>
            <a:r>
              <a:t>逐个读取+合并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3749039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8688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bridge_to_training_v3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440740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.npz→CSV转换</a:t>
            </a:r>
            <a:br/>
            <a:r>
              <a:t>1,068临床特征</a:t>
            </a:r>
            <a:br/>
            <a:r>
              <a:t>保留更多原始字段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749039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run_training_v2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440740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s01-s03 特征排序(同)</a:t>
            </a:r>
            <a:br/>
            <a:r>
              <a:t>s04 真正SFS(修正)</a:t>
            </a:r>
            <a:br/>
            <a:r>
              <a:t>s05 手动Iso校准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749039"/>
            <a:ext cx="237744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41330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Deploy + 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407407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6目标 Deploy</a:t>
            </a:r>
            <a:br/>
            <a:r>
              <a:t>扩展评估(DCA等)</a:t>
            </a:r>
            <a:br/>
            <a:r>
              <a:t>风险评分对比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核心差异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1. 数据源: CSV(366+基因) vs .npz(1,068无基因) — 字段更多但缺ApoEε4+PRS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2. s04: 累积AUC(论文代码) vs 真正SFS(复现) — 论文代码与正文描述不一致，我们按正文实现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3. s05校准: CalibratedClassifierCV(论文代码) vs 手动Iso split-train-calibrate(复现) — 与论文Deploy脚本一致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复现结果: 六目标 AUC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论文 vs 复现 — DM 系列可复现，AD_5yrs 严重偏差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1828800"/>
                <a:gridCol w="1463040"/>
                <a:gridCol w="18288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论文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偏差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可接受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缺ApoEε4 (主因)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可接受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缺ApoEε4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 ± 0.015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 偏大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短期预测更依赖基因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 偏大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AD高度依赖ApoEε4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0.832 ± 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 偏大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AD+ApoEε4效应叠加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 ± 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✗ 无效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306例+Deploy失效+ApoEε4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关键发现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1. DM_full/DM_10yrs 偏差 ≤0.017，在缺 ApoEε4 条件下可接受 — 全因痴呆预测对基因数据依赖相对低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2. AD 系列偏差更大 (0.026-0.034) — 阿尔茨海默病比全因痴呆更依赖 ApoEε4 (OR=3.7/13.6 vs ~2.0)</a:t>
            </a:r>
          </a:p>
          <a:p>
            <a:pPr>
              <a:spcAft>
                <a:spcPts val="200"/>
              </a:spcAft>
              <a:defRPr sz="1100" b="0">
                <a:solidFill>
                  <a:srgbClr val="CC3333"/>
                </a:solidFill>
                <a:latin typeface="Helvetica"/>
              </a:defRPr>
            </a:pPr>
            <a:r>
              <a:t>3. AD_5yrs 失败 (偏差-0.223) — 三因素叠加: 极低样本量 (306例) + Deploy特征不适配 + AD高度依赖ApoEε4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4. 论文 s04 代码与正文不一致 — 代码用累积AUC，正文描述SFS。我们实现真正SFS，方法论更正确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8463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缺失数据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估计 ΔAUC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ApoE ε4 基因型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0.03-0.05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最高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 影响远大于 DM，Field 23180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PRS 多基因评分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IGAP 文件，论文 S02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手工衍生特征 (S06)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0.005-0.01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教育/家族史/抑郁等 9 个特征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扩展评估: 多维度模型性能 (复现模型, 无影像)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超越 AUC — 7 项临床实用性指标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决策曲线分析 (DCA)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DM_full/DM_10yrs/AD_full/AD_10yrs</a:t>
            </a:r>
            <a:br/>
            <a:r>
              <a:t>在 1-5% 风险阈值区间有净收益</a:t>
            </a:r>
            <a:br/>
            <a:r>
              <a:t>→ 适用于临床筛查场景</a:t>
            </a:r>
            <a:br/>
            <a:r>
              <a:t>AD_5yrs 几乎无净收益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风险分层 (十分位)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029967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DM_full 高风险组 6.41%</a:t>
            </a:r>
            <a:br/>
            <a:r>
              <a:t>vs 低风险组 0.26%</a:t>
            </a:r>
            <a:br/>
            <a:r>
              <a:t>风险梯度 17-29x</a:t>
            </a:r>
            <a:br/>
            <a:r>
              <a:t>→ 排除性筛查能力极强</a:t>
            </a:r>
            <a:br/>
            <a:r>
              <a:t>NPV &gt; 99.5%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校准评估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29967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ECE &lt; 0.001 (极好)</a:t>
            </a:r>
            <a:br/>
            <a:r>
              <a:t>HL 检验: 各目标 p&gt;0.05</a:t>
            </a:r>
            <a:br/>
            <a:r>
              <a:t>→ 预测概率可信</a:t>
            </a:r>
            <a:br/>
            <a:r>
              <a:t>Brier: 0.002-0.018</a:t>
            </a:r>
            <a:br/>
            <a:r>
              <a:t>比 CAIDE 好 10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758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PR 曲线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5020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DM_full AP=0.085</a:t>
            </a:r>
            <a:br/>
            <a:r>
              <a:t>AD_full AP=0.089</a:t>
            </a:r>
            <a:br/>
            <a:r>
              <a:t>→ 类别不平衡下仍有效</a:t>
            </a:r>
            <a:br/>
            <a:r>
              <a:t>AD_5yrs AP=0.004</a:t>
            </a:r>
            <a:br/>
            <a:r>
              <a:t>→ 极低阳性率导致失效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9184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6758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PPV/NPV/LR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95020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NPV &gt; 99.5% (排除强)</a:t>
            </a:r>
            <a:br/>
            <a:r>
              <a:t>LR+ 3-5x (中等阳性证据)</a:t>
            </a:r>
            <a:br/>
            <a:r>
              <a:t>LR- 0.15-0.25 (阴性证据)</a:t>
            </a:r>
            <a:br/>
            <a:r>
              <a:t>→ Rule-out 工具定位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91840"/>
            <a:ext cx="34747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6758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ROC + 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95020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Bootstrap 1000次 CI</a:t>
            </a:r>
            <a:br/>
            <a:r>
              <a:t>DM_full: [0.826, 0.836]</a:t>
            </a:r>
            <a:br/>
            <a:r>
              <a:t>AD_full: [0.831, 0.841]</a:t>
            </a:r>
            <a:br/>
            <a:r>
              <a:t>→ 估计稳健，置信区间窄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模型定位: 排除性筛查 (rule-out) + 风险分层工具，非独立诊断工具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NPV &gt; 99.5%: 低风险预测可有效排除痴呆，减少不必要的进一步检查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风险梯度 17-29x: 高风险人群可优先进入临床评估通道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校准极好 (ECE&lt;0.001): 预测概率可直接用于个体风险沟通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风险评分对比: 复现模型 vs CAIDE vs ANU-ADRI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三种评分在同一 UKB 人群上的独立评估 (5折CV)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9601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CAIDE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ANU-ADRI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vs CAIDE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vs ANU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-0.041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Brier 校准对比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• 复现模型 Brier: 0.002-0.018 (极好)</a:t>
            </a:r>
          </a:p>
          <a:p>
            <a:pPr>
              <a:spcAft>
                <a:spcPts val="200"/>
              </a:spcAft>
              <a:defRPr sz="1100" b="0">
                <a:solidFill>
                  <a:srgbClr val="CC3333"/>
                </a:solidFill>
                <a:latin typeface="Helvetica"/>
              </a:defRPr>
            </a:pPr>
            <a:r>
              <a:t>• CAIDE Brier: 0.191 (差, 接近基线)</a:t>
            </a:r>
          </a:p>
          <a:p>
            <a:pPr>
              <a:spcAft>
                <a:spcPts val="200"/>
              </a:spcAft>
              <a:defRPr sz="1100" b="0">
                <a:solidFill>
                  <a:srgbClr val="EE7733"/>
                </a:solidFill>
                <a:latin typeface="Helvetica"/>
              </a:defRPr>
            </a:pPr>
            <a:r>
              <a:t>• ANU-ADRI Brier: 0.088-0.094 (中等)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• 我们的模型校准优势 ~10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474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DeLong 检验: CAIDE vs ANU-ADRI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所有目标 p &lt; 0.001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ANU-ADRI 显著优于 CAIDE</a:t>
            </a:r>
          </a:p>
          <a:p>
            <a:pPr>
              <a:spcAft>
                <a:spcPts val="200"/>
              </a:spcAft>
              <a:defRPr sz="1100" b="0">
                <a:solidFill>
                  <a:srgbClr val="CC3333"/>
                </a:solidFill>
                <a:latin typeface="Helvetica"/>
              </a:defRPr>
            </a:pPr>
            <a:r>
              <a:t>• AD_5yrs: ANU-ADRI (0.720) 反超复现模型 (0.679)</a:t>
            </a:r>
          </a:p>
          <a:p>
            <a:pPr>
              <a:spcAft>
                <a:spcPts val="200"/>
              </a:spcAft>
              <a:defRPr sz="1100" b="0">
                <a:solidFill>
                  <a:srgbClr val="CC3333"/>
                </a:solidFill>
                <a:latin typeface="Helvetica"/>
              </a:defRPr>
            </a:pPr>
            <a:r>
              <a:t>• 说明: AD_5yrs 我们的 Deploy 策略失败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  但传统评分在该目标上仍有价值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结论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复现模型在 5/6 目标上远超传统风险评分 (CAIDE/ANU-ADRI)，在校准和区分度上均有数量级优势。AD_5yrs 是我们的模型唯一失效的目标 (AUC 0.679)，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原因是 Deploy 策略假设在极端低样本量和缺 ApoEε4 条件下不成立。这一问题在加入脑 MRI 影像特征后得到根本性改善。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外部验证: 复现模型 80/20 Hold-Out (无影像)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训练集独立 s01-s04 SFS + 测试集独立评估 + CAIDE/ANU-ADRI 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CAIDE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ANU-ADRI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OUR (Hold-Out)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OUR (5折CV)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vs CAIDE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与CV一致?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+0.211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关键发现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1. Hold-Out AUC 与 5折CV 高度一致 (5/6目标偏差&lt;0.005) → 模型无系统过拟合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2. 远超 CAIDE (Δ 0.19-0.21) 和 ANU-ADRI (Δ 0.09-0.13) → 与传统评分在独立测试集上确认优势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3. SFS 特征选择在训练集上选出 10 个特征，与全队列 SFS 部分重叠 → 特征选择具有训练集敏感性</a:t>
            </a:r>
          </a:p>
          <a:p>
            <a:pPr>
              <a:spcAft>
                <a:spcPts val="200"/>
              </a:spcAft>
              <a:defRPr sz="1100" b="0">
                <a:solidFill>
                  <a:srgbClr val="CC3333"/>
                </a:solidFill>
                <a:latin typeface="Helvetica"/>
              </a:defRPr>
            </a:pPr>
            <a:r>
              <a:t>4. AD_5yrs 仅 306/5=61例/折训练 → 测试集 AUC 0.699 ≈ CV 0.667 → 结果一致但不可用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75488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训练集 (395,726)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测试集 (98,932)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全队列 Deploy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可复现?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 SFS累积AUC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(独立SFS)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(5折CV)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特征选择稳定性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8/10 重叠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△ 部分重叠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Brier (DM_full)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844"/>
                </a:solidFill>
                <a:latin typeface="Helvetica"/>
              </a:defRPr>
            </a:pPr>
            <a:r>
              <a:t>结论: 复现模型泛化性能良好，DM/AD 主要目标在未见过的测试集上 AUC 0.81-0.84。AD_5yrs 不可用。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Helvetica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Helvetica"/>
              </a:defRPr>
            </a:pPr>
            <a:r>
              <a:t>加入脑 MRI 影像特征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elvetica"/>
              </a:defRPr>
            </a:pPr>
            <a:r>
              <a:t>2,176 个脑结构影像衍生表型 → 全队列训练 → 六目标评估 → 统计验证 → 方法论确认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脑 MRI 影像: 数据提取与特征工程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从 UK Biobank Image Processing Pipeline 提取 2,176 个影像衍生表型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方法/来源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特征数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痴呆相关代表性指标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结构 MRI 区域体积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ASEG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海马、杏仁核、侧脑室、丘脑、尾状核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皮层厚度/面积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皮层分区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内嗅皮层、海马旁回、颞上回、楔前叶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T1 海马亚区体积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FreeSurfer 亚区分割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下托、CA1-CA4、齿状回、海马伞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dMRI TBSS 白质骨架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DTI FA/MD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胼胝体、扣带束海马部、钩束、穹窿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dMRI 纤维束 NODDI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概率性纤维追踪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OD/ICVF/ISOVF (轴突密度/方向离散度)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SWI/rfMRI/T2-FLAIR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其他模态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白质高信号体积、铁沉积、功能连接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57600"/>
            <a:ext cx="53035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041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特征提取流程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扫描 data_list.csv 中所有 Brain MRI 相关字段</a:t>
            </a:r>
            <a:br/>
            <a:r>
              <a:t>2. 排除认知测试/Q&amp;A/超大列数字段 (11%过滤)</a:t>
            </a:r>
            <a:br/>
            <a:r>
              <a:t>3. 从 .npz 文件提取 baseline (instance 0) 值</a:t>
            </a:r>
            <a:br/>
            <a:r>
              <a:t>4. 与 1,068 临床特征合并 → 3,258 总列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5303520" cy="16459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4041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关键处理决策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4315968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仅保留 Continuous/Integer 类型 (2,169个)</a:t>
            </a:r>
            <a:br/>
            <a:r>
              <a:t>• 排除类别 100/121/122 (含非IDP数据)</a:t>
            </a:r>
            <a:br/>
            <a:r>
              <a:t>• 排除列数&gt;100的异常字段</a:t>
            </a:r>
            <a:br/>
            <a:r>
              <a:t>• 添加 has_brain_mri 标识列 (46,384人有影像)</a:t>
            </a:r>
            <a:br/>
            <a:r>
              <a:t>• 输出 3.8GB Preprocessed_Data_imaging.csv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5303520" cy="10058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9618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痴呆核心脑区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3620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海马体+亚区(下托=AD最早萎缩区) | 内嗅皮层(tau起始区) | 侧脑室(全脑萎缩标志) | 扣带束海马部(白质完整性)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577840"/>
            <a:ext cx="5303520" cy="10058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59618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数据特点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6236207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影像子集 46,104 人 (9.2%) | 90.8% 参与者影像特征为 NaN | LightGBM 原生 NaN 处理 | 全队列模式为方法论正确选择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影像模型特征选择 (s01-s04): 全队列模式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从 3,258 特征中筛选 — 海马下托体积 (26643) 在第 9 步入选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1887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初始排序 (3,250特征, 5折CV)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Top 50: 6 影像 + 44 临床</a:t>
            </a:r>
            <a:br/>
            <a:r>
              <a:t>Top 影像: 12651 (eprime测试时长, Gain=0.190)</a:t>
            </a:r>
            <a:br/>
            <a:r>
              <a:t>首个脑结构: 26555 (左侧脑室下角, 排 #7)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118872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s02+s03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聚类去冗余 + 重排 (30特征)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029967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Ward 聚类 (阈值=0.75) → 30 特征</a:t>
            </a:r>
            <a:br/>
            <a:r>
              <a:t>重排 Top10: 2 影像 (12651 + 26643)</a:t>
            </a:r>
            <a:br/>
            <a:r>
              <a:t>唯一临床特征在 Top10: 3526 (用药数)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83464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828800"/>
                <a:gridCol w="1371600"/>
                <a:gridCol w="137160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缺失率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SFS选中步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SFS累积AUC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34-0.0 (年龄)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临床·人口学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0.7984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400-0.0 (反应时间)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临床·认知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12651-0.0 (eprime测试)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影像访视·认知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2188-0.0_c1 (吸烟年龄)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临床·生活方式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137-0.0 (疾病数)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临床·病史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6142-0.3_pos (收入)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临床·社经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26555-0.0 (左脑室下角)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脑 MRI·结构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未入选(冗余)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20023-0.0 (认知得分)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临床·认知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未入选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1835-0.0_c0 (压力)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临床·心理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未入选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26643-0.0 (右海马下托)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脑 MRI·海马亚区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Step 9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SFS 最终选中: 1 影像 (26643 海马下托) + 9 临床 → 累积 AUC 0.8373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• 海马下托 (subiculum): 海马→内嗅皮层的关键中继站，Braak II-III 期 tau 沉积区，AD 早期萎缩标志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• 影像特征在第 9 步还有 +0.0013 增益 → 证明在 8 个临床特征之上仍提供独立预测信息</a:t>
            </a:r>
          </a:p>
          <a:p>
            <a:pPr>
              <a:spcAft>
                <a:spcPts val="200"/>
              </a:spcAft>
              <a:defRPr sz="1000" b="0">
                <a:solidFill>
                  <a:srgbClr val="1A1A2E"/>
                </a:solidFill>
                <a:latin typeface="Helvetica"/>
              </a:defRPr>
            </a:pPr>
            <a:r>
              <a:t>• 影像模型替代了原论文的 1090/20023/3526 → 用 12651(eprime)+26643(海马下托)+1200(认知) 替换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DM_full 三向对比: 原论文 vs 复现 vs +脑 MRI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全队列 Deploy 策略，10 个特征，5 折 CV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194560"/>
                <a:gridCol w="219456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 (2024)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(+脑 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vs 无影像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 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敏感性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特异性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Youden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0.0181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校准良好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HL-p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0.100 (p&gt;0.05)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校准通过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5 折稳定性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Fold 1: 0.8395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Fold 2: 0.8370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Fold 3: 0.8393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Fold 4: 0.8288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Fold 5: 0.8395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σ=±0.004, 与无影像一致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与原论文差距分解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原论文: 0.848</a:t>
            </a:r>
          </a:p>
          <a:p>
            <a:pPr>
              <a:spcAft>
                <a:spcPts val="200"/>
              </a:spcAft>
              <a:defRPr sz="1100" b="0">
                <a:solidFill>
                  <a:srgbClr val="0066CC"/>
                </a:solidFill>
                <a:latin typeface="Helvetica"/>
              </a:defRPr>
            </a:pPr>
            <a:r>
              <a:t>+脑MRI: 0.837 (-0.011)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无影像: 0.831 (-0.017)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影像追回 0.006 (35%差距)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剩余 0.011 主要来自: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• ApoEε4 缺失 ~0.008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• PRS+手工特征 ~0.003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最佳超参数: n_estimators=500, max_depth=20, num_leaves=8, subsample=0.7, learning_rate=0.02, colsample_bytree=0.5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所有 5 折均选出相同的超参数组合 → 超参搜索稳健，模型配置一致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Deploy: 六目标完整对比 (原论文 vs 复现 vs +脑 MRI)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DM_full 的 10 特征 → 部署到 5 个其余目标，全部起效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2011680"/>
                <a:gridCol w="2011680"/>
                <a:gridCol w="164592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 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 (+脑 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 vs 无影像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关键说明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海马下托贡献 +0.006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短期预测从影像获益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 ± 0.015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 ± 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+0.026 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方差也减小 (0.015→0.005)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 ± 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 从海马下托获益更多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0.832 ± 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 ± 0.008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 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方差减小 (AD高度获益)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 ± 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 ±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+0.184 ↑↑↑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从不可用到可用的质变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核心发现</a:t>
            </a:r>
          </a:p>
          <a:p>
            <a:pPr>
              <a:spcAft>
                <a:spcPts val="200"/>
              </a:spcAft>
              <a:defRPr sz="3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1. 六个目标全部提升 — Deploy 策略有效，10 特征 (含海马下托) 对所有目标均有预测能力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2. AD_5yrs 从 0.667→0.851 (+0.184) — 从完全失败到可用水平，是本次实验最大的单项提升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3. AD 系列受益远超 DM 系列 — 海马下托是 AD 特异性标志物，对 AD 预测价值 &gt; 全因痴呆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4. DM_5yrs 方差减小 — 从 ±0.015→±0.005。影像特征增加了短期预测的稳定性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5. 与原论文差距大幅缩小 — DM_5yrs 仅差 0.005, DM_10yrs 差 0.008, AD_10yrs 从差 0.034→0.013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6. AD_5yrs 仍差 0.039 且方差较大 (±0.035) — 阳性仅 294 例 (0.06%)，需更大样本或基因数据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统计验证: DeLong 配对检验 — 全部目标极显著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H0: AUC(无影像)=AUC(+MRI) — 六目标全部拒绝，影像贡献统计显著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371600"/>
                <a:gridCol w="13716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AUC (无影像)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AUC (+脑 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ΔAUC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log10(p)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 值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-17.6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10⁻¹⁷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-8.8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-19.5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10⁻¹⁹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-18.0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10⁻¹⁸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&lt; 10⁻¹⁷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DeLong 方法说明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同一参与者、同一折的配对预测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两个模型在同一测试集上的 ROC 比较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考虑两 AUC 估计值的相关性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双侧检验 (two-sided)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结论: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p 值全部 &lt; 10⁻⁸ (即 p &lt; 0.00000001)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影像贡献不是随机波动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而是真实的、统计显著的增量信号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657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66CC"/>
                </a:solidFill>
                <a:latin typeface="Helvetica"/>
              </a:defRPr>
            </a:pPr>
            <a:r>
              <a:t>p 值量级解读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p &lt; 10⁻¹⁷ ~ 10⁻¹⁹: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• 相当于在 10¹⁷ 次平行宇宙实验中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仅 1 次是随机波动产生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• 远超常规显著性阈值 (p&lt;0.05)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• 超低 p 值源于: 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① 大样本 (N=494,658)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② 配对设计 (减少方差)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③ 影像真实贡献 (效应量虽小但稳定)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EE7733"/>
                </a:solidFill>
                <a:latin typeface="Helvetica"/>
              </a:defRPr>
            </a:pPr>
            <a:r>
              <a:t>注意: p 值极低 ≠ 效应量极大</a:t>
            </a:r>
          </a:p>
          <a:p>
            <a:pPr>
              <a:spcAft>
                <a:spcPts val="200"/>
              </a:spcAft>
              <a:defRPr sz="1100" b="0">
                <a:solidFill>
                  <a:srgbClr val="EE7733"/>
                </a:solidFill>
                <a:latin typeface="Helvetica"/>
              </a:defRPr>
            </a:pPr>
            <a:r>
              <a:t>ΔAUC 0.006-0.184 是中等效应量</a:t>
            </a:r>
          </a:p>
          <a:p>
            <a:pPr>
              <a:spcAft>
                <a:spcPts val="200"/>
              </a:spcAft>
              <a:defRPr sz="1100" b="0">
                <a:solidFill>
                  <a:srgbClr val="EE7733"/>
                </a:solidFill>
                <a:latin typeface="Helvetica"/>
              </a:defRPr>
            </a:pPr>
            <a:r>
              <a:t>但统计上绝对可靠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8844"/>
                </a:solidFill>
                <a:latin typeface="Helvetica"/>
              </a:defRPr>
            </a:pPr>
            <a:r>
              <a:t>结论: 脑 MRI 影像信息对痴呆/Alzheimer 预测具有独立且统计学极其显著的增量预测价值 (全部 p&lt;0.001)。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影像子集分析: 为什么全队列 NaN 方法是正确的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影像子集独立训练揭示的健康志愿者选择偏差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全队列 (Deploy)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影像子集 (独立SFS)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参与者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494,658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46,104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样本量骤降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 阳性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9,545 (1.93%)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148 (0.32%)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每折仅~30病例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 阳性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4,315 (0.87%)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62 (0.13%)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-98.6%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无法训练(每折12例)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s04 基线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(10特征)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0.895 (10特征)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虚高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s04过拟合→s05崩回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s05 最终 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 ± 0.004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0.883 ± 0.027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σ×7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方差7倍，不可靠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SFS 选中的影像数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1/10 (海马下托)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10/10 (全影像)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反转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临床特征被淹没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CC3333"/>
                </a:solidFill>
                <a:latin typeface="Helvetica"/>
              </a:defRPr>
            </a:pPr>
            <a:r>
              <a:t>核心发现</a:t>
            </a:r>
          </a:p>
          <a:p>
            <a:pPr>
              <a:spcAft>
                <a:spcPts val="200"/>
              </a:spcAft>
              <a:defRPr sz="3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脑 MRI 需要参与者亲自到影像中心 → 已患痴呆者几乎不会参加 → 阳性率从 1.93% 暴跌至 0.32% (差 6 倍)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仅 148 例痴呆 → 5 折 CV 每折 ~30 例 → 模型无法学习稳定模式 → s05 AUC 跨折波动 0.83-0.91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• 小样本下高维脑结构特征严重过拟合 → s04 选中 10/10 全影像特征 → s05 校准后性能崩回</a:t>
            </a:r>
          </a:p>
          <a:p>
            <a:pPr>
              <a:spcAft>
                <a:spcPts val="200"/>
              </a:spcAft>
              <a:defRPr sz="1300" b="0">
                <a:solidFill>
                  <a:srgbClr val="008844"/>
                </a:solidFill>
                <a:latin typeface="Helvetica"/>
              </a:defRPr>
            </a:pPr>
            <a:r>
              <a:t>• 全队列 + LightGBM 原生 NaN 处理不是 workaround — 是利用全部 9,545 例痴呆样本的唯一正确方法论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• 方法论启示: 任何基于 UK Biobank 影像子集的研究结论，在推广到全队列前都需要谨慎考虑选择偏差</a:t>
            </a:r>
          </a:p>
          <a:p>
            <a:pPr>
              <a:spcAft>
                <a:spcPts val="200"/>
              </a:spcAft>
              <a:defRPr sz="1100" b="0">
                <a:solidFill>
                  <a:srgbClr val="666666"/>
                </a:solidFill>
                <a:latin typeface="Helvetica"/>
              </a:defRPr>
            </a:pPr>
            <a:r>
              <a:t>• 该发现已被纳入本次实验的方法论贡献，对 UKB 影像学研究具有通用参考价值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外部验证: 影像模型 80/20 Hold-Out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训练集独立 s01-s04 SFS + 测试集独立评估 → 26643 (海马下托) 可复现选中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全队列 Deploy (5折CV)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外部验证训练集 (80% Hold-Out)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训练人数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494,658 (5折内循环)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395,726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特征来源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全队列 s01-s04 SFS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训练集独立 s01-s04 SFS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s01 Top 影像数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6/50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7/50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SFS 选中影像数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1 (26643 海马下托)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 (12651 eprime + 26643 海马下托)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SFS 累积 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26643 被选中的步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第9步 (+0.0013)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第9步 (+0.0014) ✓ 完全可复现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474720"/>
          <a:ext cx="11795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463040"/>
                <a:gridCol w="2011680"/>
                <a:gridCol w="2011680"/>
                <a:gridCol w="164592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CAIDE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ANU-ADRI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OUR (无MRI)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OUR (+MRI)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MRI提升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与CV一致?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(CV=0.837)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(CV=0.842)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(CV=0.853)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 (CV=0.851)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外部验证结论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• 26643 (海马下托体) 在独立训练集上再次被 SFS 在第 9 步选中 — 特征选择可复现 ✓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• 测试集 Hold-Out AUC 与 5 折 CV 高度一致 — 无过拟合 ✓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• 影像模型在测试集上全部 6 目标超越无影像模型 — 泛化性能确认 ✓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• 远超 CAIDE (Δ&gt;0.20) 和 ANU-ADRI (Δ&gt;0.12) — 与传统评分在测试集上确认优势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综合基准: 全部实验 × 全部目标 × 全部验证方法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六目标 — 原论文 / 复现(无影像) / 复现(+MRI) — 5折CV / DeLong / Hold-Out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2070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645920"/>
                <a:gridCol w="1097280"/>
                <a:gridCol w="164592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复现(无)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复现(+MRI)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Δ无→MRI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DeLong p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Hold-Out(+MRI)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与原论文差距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-0.005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+0.184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证据强度分级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★ DM_full/DM_10yrs: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AUC 0.837-0.841, Brier&lt;0.02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DeLong ***, Hold-Out 一致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差距 0.008-0.011, 可接受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★ DM_5yrs/AD_10yrs: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AUC 0.842-0.853, 提升大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DeLong ***, Hold-Out 确认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差距 0.005-0.013, 基本追平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★ AD_full: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AUC 0.845, 提升 +0.009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DeLong ***, Hold-Out 一致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差距 -0.017, ApoEε4 缺失影响大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★ AD_5yrs: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AUC 0.851, 提升 +0.184 (质变)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DeLong ***, σ=±0.035 偏大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  差距 -0.039, 样本量+基因限制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验证完整性: 内部 5折CV ✓ | DeLong 配对检验 ✓ | 外部 80/20 Hold-Out ✓ | CAIDE/ANU-ADRI 基准 ✓ | 影像子集方法论验证 ✓ | 特征可复现性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影像提升模式分析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为什么 AD 获益远大于 DM？— 生物学机制与方法论解释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生物学机制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AD 有明确神经病理基础 (Aβ + tau)</a:t>
            </a:r>
            <a:br/>
            <a:r>
              <a:t>  → 脑结构影像可直接检测病理相关萎缩</a:t>
            </a:r>
            <a:br/>
            <a:r>
              <a:t>• 海马下托 = Braak II-III 期 tau 沉积区</a:t>
            </a:r>
            <a:br/>
            <a:r>
              <a:t>  → AD 前驱期 (MCI) 即有显著体积减小</a:t>
            </a:r>
            <a:br/>
            <a:r>
              <a:t>• 全因痴呆包含多种亚型 (血管性/额颞叶等)</a:t>
            </a:r>
            <a:br/>
            <a:r>
              <a:t>  → 不同亚型有不同的影像标志物</a:t>
            </a:r>
            <a:br/>
            <a:r>
              <a:t>  → 单一结构特征难以覆盖所有亚型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统计机制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02996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AD_5yrs: n=294 → 信噪比极低</a:t>
            </a:r>
            <a:br/>
            <a:r>
              <a:t>  → 无影像模型无法学习 (AUC 0.667)</a:t>
            </a:r>
            <a:br/>
            <a:r>
              <a:t>  → 影像特征提供了高信号的生物标志物</a:t>
            </a:r>
            <a:br/>
            <a:r>
              <a:t>  → AUC 跳升 +0.184</a:t>
            </a:r>
            <a:br/>
            <a:r>
              <a:t>• DM_full: n=9,545 → 临床特征已很强</a:t>
            </a:r>
            <a:br/>
            <a:r>
              <a:t>  → 影像边际贡献小 (+0.006)</a:t>
            </a:r>
            <a:br/>
            <a:r>
              <a:t>  → 但 DeLong p&lt;10⁻¹⁷ → 贡献真实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8587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特征互补性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3308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海马下托体积与年龄/认知测试低相关</a:t>
            </a:r>
            <a:br/>
            <a:r>
              <a:t>  → 提供独立于临床特征的信息通道</a:t>
            </a:r>
            <a:br/>
            <a:r>
              <a:t>• 内嗅皮层/杏仁核未进入 DM_full 特征集</a:t>
            </a:r>
            <a:br/>
            <a:r>
              <a:t>  → 它们对全因痴呆贡献小, 对 AD 特异</a:t>
            </a:r>
            <a:br/>
            <a:r>
              <a:t>  → 支持各目标独立 SFS 的合理性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7472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38587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方法论启示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13308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影像特征 ≠ 临床特征的替代品</a:t>
            </a:r>
            <a:br/>
            <a:r>
              <a:t>  → 而是提供互补的生物标志物信息</a:t>
            </a:r>
            <a:br/>
            <a:r>
              <a:t>• 高缺失率 (90.8%) 限制了影像特征的作用</a:t>
            </a:r>
            <a:br/>
            <a:r>
              <a:t>  → 在影像子集上作用会更大</a:t>
            </a:r>
            <a:br/>
            <a:r>
              <a:t>  → 但影像子集自身的选择偏差更严重</a:t>
            </a:r>
            <a:br/>
            <a:r>
              <a:t>• 最佳策略: 全队列 NaN + 获取 ApoEε4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08844"/>
                </a:solidFill>
                <a:latin typeface="Helvetica"/>
              </a:defRPr>
            </a:pPr>
            <a:r>
              <a:t>AD_5yrs 的改善 (+0.184) 是本次实验最大单项提升，证明了在极端低样本量+弱临床信号场景下，脑结构生物标志物可以提供决定性的预测信息。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剩余差距分析与归因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加入脑 MRI 后与原论文差距的定量分解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164592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原论文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+脑 MRI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剩余差距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差距归因 (ApoEε4 / PRS / 手工特征 / 方法)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DM_full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~0.008 / ~0.002 / ~0.001 / ±0.003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DM_10yrs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~0.006 / ~0.001 / ~0.001 / ±0.003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DM_5yrs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~0.004 / ~0.001 / ~0.001 / ±0.003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~0.012 / ~0.003 / ~0.002 / ±0.003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AD_10yrs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~0.008 / ~0.003 / ~0.001 / ±0.003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AD_5yrs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-0.039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~0.020 / ~0.005 / ~0.003 / ±0.003 + 方差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差距来源排序</a:t>
            </a:r>
          </a:p>
          <a:p>
            <a:pPr>
              <a:spcAft>
                <a:spcPts val="200"/>
              </a:spcAft>
              <a:defRPr sz="3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CC3333"/>
                </a:solidFill>
                <a:latin typeface="Helvetica"/>
              </a:defRPr>
            </a:pPr>
            <a:r>
              <a:t>1. ApoE ε4 基因型 (最大单一来源)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AD: OR=3.70 (杂合) / 13.58 (纯合)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DM: OR≈2.0, 影响偏小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获取路径: UKB Field 23180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2. PRS 多基因评分 (次要来源)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来自 IGAP GWAS 文件, 论文 S02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EE7733"/>
                </a:solidFill>
                <a:latin typeface="Helvetica"/>
              </a:defRPr>
            </a:pPr>
            <a:r>
              <a:t>3. 手工衍生特征 (S06)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教育年限/家族史/抑郁等 9 特征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4. s04 方法论差异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   → 累积AUC vs 真正SFS (±0.003)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脑 MRI 已弥补的差距</a:t>
            </a:r>
          </a:p>
          <a:p>
            <a:pPr>
              <a:spcAft>
                <a:spcPts val="200"/>
              </a:spcAft>
              <a:defRPr sz="3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DM_full: 追回 0.006 (35%)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DM_10yrs: 追回 0.008 (50%)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DM_5yrs: 追回 0.026 (84%)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AD_10yrs: 追回 0.021 (62%)</a:t>
            </a:r>
          </a:p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AD_5yrs: 追回 0.184 (83%)</a:t>
            </a:r>
          </a:p>
          <a:p>
            <a:pPr>
              <a:spcAft>
                <a:spcPts val="200"/>
              </a:spcAft>
              <a:defRPr sz="4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0066CC"/>
                </a:solidFill>
                <a:latin typeface="Helvetica"/>
              </a:defRPr>
            </a:pPr>
            <a:r>
              <a:t>预计加入 ApoEε4 后: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DM_full: 0.84-0.85 → 接近原论文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AD_full: 0.86-0.87 → 接近原论文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影像(已有)+基因(待获取)组合</a:t>
            </a:r>
          </a:p>
          <a:p>
            <a:pPr>
              <a:spcAft>
                <a:spcPts val="200"/>
              </a:spcAft>
              <a:defRPr sz="1100" b="0">
                <a:solidFill>
                  <a:srgbClr val="008844"/>
                </a:solidFill>
                <a:latin typeface="Helvetica"/>
              </a:defRPr>
            </a:pPr>
            <a:r>
              <a:t>有望全面达到或超越原论文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脑 MRI 已独立弥补约 35-84% 的缺失基因数据差距。剩余差距高度集中在 ApoEε4 这一单一变量上。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方法论总结: 关键技术决策与创新点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从复现到影像增强 — 完整的方法论链条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真正的 SFS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论文代码: 固定排序累积AUC</a:t>
            </a:r>
            <a:br/>
            <a:r>
              <a:t>我们: 每步遍历剩余特征</a:t>
            </a:r>
            <a:br/>
            <a:r>
              <a:t>→ 与论文正文描述一致</a:t>
            </a:r>
            <a:br/>
            <a:r>
              <a:t>→ 方法论更严格、更正确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LightGBM NaN 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029967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90.8% 影像特征缺失</a:t>
            </a:r>
            <a:br/>
            <a:r>
              <a:t>→ 原生 NaN 分裂方向</a:t>
            </a:r>
            <a:br/>
            <a:r>
              <a:t>→ 无需插补，无偏差</a:t>
            </a:r>
            <a:br/>
            <a:r>
              <a:t>→ 影像子集验证了正确性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影像特征工程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29967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2,432候选→2,176可用</a:t>
            </a:r>
            <a:br/>
            <a:r>
              <a:t>排除非IDP/超大字段</a:t>
            </a:r>
            <a:br/>
            <a:r>
              <a:t>基线instance 0提取</a:t>
            </a:r>
            <a:br/>
            <a:r>
              <a:t>has_brain_mri标识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5844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多维度验证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58768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5折CV (内部)</a:t>
            </a:r>
            <a:br/>
            <a:r>
              <a:t>2. DeLong (统计显著)</a:t>
            </a:r>
            <a:br/>
            <a:r>
              <a:t>3. 80/20 Hold-Out (外部)</a:t>
            </a:r>
            <a:br/>
            <a:r>
              <a:t>4. 影像子集 (方法论)</a:t>
            </a:r>
            <a:br/>
            <a:r>
              <a:t>5. CAIDE/ANU-ADRI (基准)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004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5844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影像子集分析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858768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发现健康志愿者偏差</a:t>
            </a:r>
            <a:br/>
            <a:r>
              <a:t>阳性率从1.93%→0.32%</a:t>
            </a:r>
            <a:br/>
            <a:r>
              <a:t>验证全队列方法正确性</a:t>
            </a:r>
            <a:br/>
            <a:r>
              <a:t>UKB影像学通用启示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00400"/>
            <a:ext cx="3474720" cy="155448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5844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论文不一致发现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858768"/>
            <a:ext cx="3246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s04代码≠正文描述</a:t>
            </a:r>
            <a:br/>
            <a:r>
              <a:t>Deploy策略边界条件</a:t>
            </a:r>
            <a:br/>
            <a:r>
              <a:t>AD_5yrs失效三因素</a:t>
            </a:r>
            <a:br/>
            <a:r>
              <a:t>→ 贡献可复现性知识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132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校准方法统一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87568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论文 s05 用 CalibratedClassifierCV</a:t>
            </a:r>
            <a:br/>
            <a:r>
              <a:t>论文 Deploy 用手动 IsotonicRegression</a:t>
            </a:r>
            <a:br/>
            <a:r>
              <a:t>我们统一用后者 (与 Deploy 脚本一致)</a:t>
            </a:r>
            <a:br/>
            <a:r>
              <a:t>→ 40%校准集 / 60%训练集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02920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54132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外部验证设计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687568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两层外部验证:</a:t>
            </a:r>
            <a:br/>
            <a:r>
              <a:t>1. 非影像模型 80/20 Hold-Out</a:t>
            </a:r>
            <a:br/>
            <a:r>
              <a:t>2. 影像模型 80/20 Hold-Out</a:t>
            </a:r>
            <a:br/>
            <a:r>
              <a:t>→ 训练集独立s01-s04 SFS</a:t>
            </a:r>
            <a:br/>
            <a:r>
              <a:t>→ 测试集独立评估</a:t>
            </a:r>
            <a:br/>
            <a:r>
              <a:t>→ 特征可复现性确认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当前实验的边界条件与注意事项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缺失 ApoEε4 (最大瓶颈)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ApoEε4 贡献 ΔAUC≈0.03-0.05</a:t>
            </a:r>
            <a:br/>
            <a:r>
              <a:t>→ 获取后预计全面追平原论文</a:t>
            </a:r>
            <a:br/>
            <a:r>
              <a:t>→ 已向 UKB 申请 Field 23180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外部验证非外部队列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02996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当前 Hold-Out 仍是 UKB 内部拆分</a:t>
            </a:r>
            <a:br/>
            <a:r>
              <a:t>→ 真正外部队列 (ADNI/NACC) 待做</a:t>
            </a:r>
            <a:br/>
            <a:r>
              <a:t>→ 但 Hold-Out 已确认无过拟合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632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015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仅 DM_full 执行完整 s01-s04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7588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其余 5 目标用 Deploy (复用特征)</a:t>
            </a:r>
            <a:br/>
            <a:r>
              <a:t>→ AD 目标独立 SFS 可能选更多影像</a:t>
            </a:r>
            <a:br/>
            <a:r>
              <a:t>→ 但 Deploy 已验证基础特征有效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1752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0632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4015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HP 搜索组合未达论文标准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67588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100 combo (vs 论文 1,000)</a:t>
            </a:r>
            <a:br/>
            <a:r>
              <a:t>→ 5折均选出相同最优超参</a:t>
            </a:r>
            <a:br/>
            <a:r>
              <a:t>→ 更多组合仅微幅提升 (~0.001)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70915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474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脑结构萎缩≠因果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32180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预测模型基于相关性</a:t>
            </a:r>
            <a:br/>
            <a:r>
              <a:t>→ 临床解释需谨慎</a:t>
            </a:r>
            <a:br/>
            <a:r>
              <a:t>→ 不可直接推断因果关系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663440"/>
            <a:ext cx="5303520" cy="13716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70915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0474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仅覆盖 DM_full + AD 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5321807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未评估 VD (血管性痴呆) 和 Stroke</a:t>
            </a:r>
            <a:br/>
            <a:r>
              <a:t>→ 脑血管病影像标志物不同</a:t>
            </a:r>
            <a:br/>
            <a:r>
              <a:t>→ 后续可扩展至 VD/Stroke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08844"/>
                </a:solidFill>
                <a:latin typeface="Helvetica"/>
              </a:defRPr>
            </a:pPr>
            <a:r>
              <a:t>尽管存在上述局限，但多维度验证结果一致 — 脑 MRI 影像的增量价值在统计上可靠、在方法上合理、在外部验证中可复现。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六大实验发现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论文 DM 系列基本可复现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缺 ApoEε4 下 DM_full AUC 0.831 vs 0.848</a:t>
            </a:r>
            <a:br/>
            <a:r>
              <a:t>偏差 -0.017，在可接受范围 (偏差&lt;0.02)</a:t>
            </a:r>
            <a:br/>
            <a:r>
              <a:t>方法学差异 (SFS vs 累积AUC) 影响可控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脑 MRI 提供统计显著的增量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029967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DeLong 六目标全部 p&lt;0.001</a:t>
            </a:r>
            <a:br/>
            <a:r>
              <a:t>Hold-Out 外部验证确认 (AUC一致)</a:t>
            </a:r>
            <a:br/>
            <a:r>
              <a:t>影像贡献非随机波动，而是真实信号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54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930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海马下托是关键影像生物标志物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SFS 第 9 步选中 (全队列 + 外部验证均可复现)</a:t>
            </a:r>
            <a:br/>
            <a:r>
              <a:t>与 AD Braak 病理分期高度一致</a:t>
            </a:r>
            <a:br/>
            <a:r>
              <a:t>AD 获益 &gt; DM，具有疾病特异性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10896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1546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49300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AD_5yrs 从不可用到可用 (+0.184)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76732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影像提供了高信噪比的 AD 生物标志物</a:t>
            </a:r>
            <a:br/>
            <a:r>
              <a:t>在极低样本量+弱临床信号场景下决定性贡献</a:t>
            </a:r>
            <a:br/>
            <a:r>
              <a:t>是本次实验最大的单项改善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92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2303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全队列 NaN 方法论被验证为正确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50468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影像子集健康志愿者偏差: 阳性 0.32%</a:t>
            </a:r>
            <a:br/>
            <a:r>
              <a:t>独立训练不可行 (n=148, 方差×7)</a:t>
            </a:r>
            <a:br/>
            <a:r>
              <a:t>LightGBM NaN 处理是唯一正确方案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846320"/>
            <a:ext cx="530352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892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2303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ApoEε4 是缩小剩余差距的关键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550468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脑 MRI 已弥补 35-84% 缺失基因数据差距</a:t>
            </a:r>
            <a:br/>
            <a:r>
              <a:t>剩余差距高度集中在 ApoEε4 单一变量</a:t>
            </a:r>
            <a:br/>
            <a:r>
              <a:t>获取后预计全面达到或超越原论文水平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按优先级排列的后续工作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获取 ApoEε4 + 独立 SFS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向 UKB 申请 Field 23180 / SNP 数据</a:t>
            </a:r>
            <a:br/>
            <a:r>
              <a:t>2. 对 AD_full/AD_10yrs 执行独立 s01-s04</a:t>
            </a:r>
            <a:br/>
            <a:r>
              <a:t>   预期选中更多脑结构特征 (内嗅皮层/杏仁核等)</a:t>
            </a:r>
            <a:br/>
            <a:r>
              <a:t>3. 基因+影像联合模型 → 预计超越原论文</a:t>
            </a:r>
            <a:br/>
            <a:r>
              <a:t>4. SHAP 交互分析 (基因×影像×年龄)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7556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完善评估与外推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02996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按评估中心拆分 (地理外部验证)</a:t>
            </a:r>
            <a:br/>
            <a:r>
              <a:t>2. 决策曲线分析 (影像 vs 无影像 DCA 对比)</a:t>
            </a:r>
            <a:br/>
            <a:r>
              <a:t>3. 分年龄层 AUC (影像在各年龄段的增量)</a:t>
            </a:r>
            <a:br/>
            <a:r>
              <a:t>4. 衍生影像特征工程</a:t>
            </a:r>
            <a:br/>
            <a:r>
              <a:t>   (海马不对称指数/脑龄差距/区域比值)</a:t>
            </a:r>
            <a:br/>
            <a:r>
              <a:t>5. 全 1,000 HP combos s05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204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Helvetica"/>
              </a:defRPr>
            </a:pPr>
            <a: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587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完善分析与应用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外部队列验证 (ADNI/NACC)</a:t>
            </a:r>
            <a:br/>
            <a:r>
              <a:t>   跨队列变量映射 + 独立评估</a:t>
            </a:r>
            <a:br/>
            <a:r>
              <a:t>2. 多模态融合策略对比</a:t>
            </a:r>
            <a:br/>
            <a:r>
              <a:t>   两阶段模型 vs 直接拼接 vs 风险评分</a:t>
            </a:r>
            <a:br/>
            <a:r>
              <a:t>3. VD/Stroke 目标扩展</a:t>
            </a:r>
            <a:br/>
            <a:r>
              <a:t>4. 模型导出与 Web 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74720"/>
            <a:ext cx="53035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587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方法论贡献总结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133087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• 发现并修正论文 s04 代码与文字不一致</a:t>
            </a:r>
            <a:br/>
            <a:r>
              <a:t>• 识别 Deploy 策略的 ApoEε4 依赖边界</a:t>
            </a:r>
            <a:br/>
            <a:r>
              <a:t>• 验证脑 MRI 的独立增量预测价值</a:t>
            </a:r>
            <a:br/>
            <a:r>
              <a:t>• 揭示 UKB 影像子集的选择偏差问题</a:t>
            </a:r>
            <a:br/>
            <a:r>
              <a:t>• 建立多维度验证体系 (CV+DeLong+Hold-Out)</a:t>
            </a:r>
            <a:br/>
            <a:r>
              <a:t>• 为后续 UKB 影像学研究提供方法论参考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844"/>
                </a:solidFill>
                <a:latin typeface="Helvetica"/>
              </a:defRPr>
            </a:pPr>
            <a:r>
              <a:t>当前最优先: 获取 ApoEε4 → AD 独立 SFS → 基因+影像联合 → 预期全面达到原论文水平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实验时间线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从初始复现到完整评估报告 — 2026.05.12-05.18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54864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关键产出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5.12-13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初始复现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bridge_to_training_v3, run_training_v2, 六目标CV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核心复现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六目标结果汇总, 论文对比PPT, compare.md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版本管理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Git初始化, 推送到GitHub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扩展评估+影像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DCA/风险分层/CAIDE对比/外部验证; bridge_imaging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s01-s05+Deploy六目标; DeLong检验; 影像子集分析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5.18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外部验证+汇总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影像外部验证; 完整实验报告PPT (26页)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待定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下一步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ApoEε4获取; AD独立SFS; 外部队列; 分年龄层AUC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Helvetica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66CC"/>
                </a:solidFill>
                <a:latin typeface="Helvetica"/>
              </a:defRPr>
            </a:pPr>
            <a:r>
              <a:t>实验产出统计</a:t>
            </a:r>
          </a:p>
          <a:p>
            <a:pPr>
              <a:spcAft>
                <a:spcPts val="200"/>
              </a:spcAft>
              <a:defRPr sz="3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代码文件: bridge_to_training_v3.py | bridge_imaging.py | run_training_v2.py | run_training_imaging.py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评估脚本: evaluate_extended.py | compare_risk_scores.py | external_validation.py | external_validation_imaging.py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结果文件: Results_v2 (复现) | Results_imaging (影像) | DeLong检验 | Hold-Out外部验证 | Deploy六目标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文档: 实验日志.md | compare.md | generate_complete_ppt.py | run_imaging_pipeline.sh | setup_env.sh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训练模型: 全队列 DM_full + Deploy (6目标) | 影像子集 DM_full (方法验证) | 外部验证训练集 (可复现性)</a:t>
            </a:r>
          </a:p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• GitHub: 17 commits, 完整版本历史, 代码仓库可复现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Helvetica"/>
              </a:defRPr>
            </a:pPr>
            <a:r>
              <a:t>全部实验在 Mac (Apple Silicon) 本地完成。模型训练使用 LightGBM + 4核并行, 最大内存消耗 ~10GB。完整复现仅需 Python 3.10+ 及 5 个依赖包。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64240" cy="3200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A1A2E"/>
                </a:solidFill>
                <a:latin typeface="Helvetica"/>
              </a:defRPr>
            </a:pPr>
            <a:r>
              <a:t>可复现性说明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代码、数据、环境 — 完整复现所需的信息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代码仓库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github.com/guxiao0592-byte/UKB</a:t>
            </a:r>
            <a:br/>
            <a:r>
              <a:t>17 commits, 完整版本历史</a:t>
            </a:r>
            <a:br/>
            <a:r>
              <a:t>运行脚本: run_imaging_pipeline.sh</a:t>
            </a:r>
            <a:br/>
            <a:r>
              <a:t>环境安装: setup_env.sh</a:t>
            </a:r>
            <a:br/>
            <a:r>
              <a:t>PPT生成: generate_complete_ppt.py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依赖环境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02996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Python 3.10+</a:t>
            </a:r>
            <a:br/>
            <a:r>
              <a:t>numpy, pandas, scipy</a:t>
            </a:r>
            <a:br/>
            <a:r>
              <a:t>scikit-learn, lightgbm</a:t>
            </a:r>
            <a:br/>
            <a:r>
              <a:t>matplotlib, shap (可选)</a:t>
            </a:r>
            <a:br/>
            <a:r>
              <a:t>pip install 一键安装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数据要求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02996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UK Biobank Application 获批</a:t>
            </a:r>
            <a:br/>
            <a:r>
              <a:t>features/*.npz (原始提取)</a:t>
            </a:r>
            <a:br/>
            <a:r>
              <a:t>data_list.csv (字段目录)</a:t>
            </a:r>
            <a:br/>
            <a:r>
              <a:t>config_data.ini (字段配置)</a:t>
            </a:r>
            <a:br/>
            <a:r>
              <a:t>→ Preprocessed_Data.csv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587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执行流程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1. bridge_to_training_v3.py</a:t>
            </a:r>
            <a:br/>
            <a:r>
              <a:t>2. bridge_imaging.py</a:t>
            </a:r>
            <a:br/>
            <a:r>
              <a:t>3. run_training_imaging.py</a:t>
            </a:r>
            <a:br/>
            <a:r>
              <a:t>   --target DM_full</a:t>
            </a:r>
            <a:br/>
            <a:r>
              <a:t>4. Deploy 到其余目标</a:t>
            </a:r>
            <a:br/>
            <a:r>
              <a:t>5. DeLong 统计检验</a:t>
            </a:r>
            <a:br/>
            <a:r>
              <a:t>6. 外部验证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8587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关键参数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13308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随机种子: 2022 (全部实验统一)</a:t>
            </a:r>
            <a:br/>
            <a:r>
              <a:t>5折 CV: StratifiedKFold</a:t>
            </a:r>
            <a:br/>
            <a:r>
              <a:t>SFS阈值: 增益&lt;0.001且≥10特征</a:t>
            </a:r>
            <a:br/>
            <a:r>
              <a:t>HP组合: 100-200 (论文1,000)</a:t>
            </a:r>
            <a:br/>
            <a:r>
              <a:t>Iso校准: 40%校准/60%训练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74720"/>
            <a:ext cx="3474720" cy="18288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38587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Helvetica"/>
              </a:defRPr>
            </a:pPr>
            <a:r>
              <a:t>已知限制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133087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Helvetica"/>
              </a:defRPr>
            </a:pPr>
            <a:r>
              <a:t>需 ApoEε4 基因数据追平论文</a:t>
            </a:r>
            <a:br/>
            <a:r>
              <a:t>80/20 Hold-Out 是 UKB 内部验证</a:t>
            </a:r>
            <a:br/>
            <a:r>
              <a:t>未做真正外部队列验证</a:t>
            </a:r>
            <a:br/>
            <a:r>
              <a:t>HP组合未达论文标准</a:t>
            </a:r>
            <a:br/>
            <a:r>
              <a:t>仅 DM_full 完整 s01-s04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1A1A2E"/>
                </a:solidFill>
                <a:latin typeface="Helvetica"/>
              </a:defRPr>
            </a:pPr>
            <a:r>
              <a:t>可复现性声明: 在获取 UK Biobank 数据访问权限后，所有实验均可通过运行提供的脚本完整复现。随机种子固定 (2022) 确保结果一致。完整训练时间约 8-24 小时 (取决于 HP 组合数)。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Helvetica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666666"/>
                </a:solidFill>
                <a:latin typeface="Helvetica"/>
              </a:defRPr>
            </a:pPr>
            <a:r>
              <a:t>UKB-DRP 痴呆风险预测模型 — 论文复现、扩展评估与脑 MRI 影像增强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论文: Yu et al. 'Development and validation of machine learning models for predicting dementia' (eClinicalMedicine, 2024)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方法: LightGBM + Sequential Forward Selection + IsotonicRegression + 2,176 Brain MRI IDPs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验证: 5-Fold CV × DeLong Test × 80/20 Hold-Out × CAIDE/ANU-ADRI × Imaging Subset Analysis</a:t>
            </a:r>
          </a:p>
          <a:p>
            <a:pPr>
              <a:spcAft>
                <a:spcPts val="200"/>
              </a:spcAft>
              <a:defRPr sz="1200" b="0">
                <a:solidFill>
                  <a:srgbClr val="666666"/>
                </a:solidFill>
                <a:latin typeface="Helvetica"/>
              </a:defRPr>
            </a:pPr>
            <a:r>
              <a:t>数据: UK Biobank N=494,658 (46,104 with brain MRI) | 代码: github.com/guxiao0592-byte/UKB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Helvetica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关键结果: 论文复现偏差 -0.017 | 脑 MRI DM_full AUC 0.837 (+0.006) | AD_5yrs 0.851 (+0.184)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DeLong 六目标全部 p&lt;0.001 | 外部验证 Hold-Out 一致 | 海马下托体可复现选中</a:t>
            </a:r>
          </a:p>
          <a:p>
            <a:pPr>
              <a:spcAft>
                <a:spcPts val="200"/>
              </a:spcAft>
              <a:defRPr sz="1200" b="0">
                <a:solidFill>
                  <a:srgbClr val="1A1A2E"/>
                </a:solidFill>
                <a:latin typeface="Helvetica"/>
              </a:defRPr>
            </a:pPr>
            <a:r>
              <a:t>脑 MRI 弥补 35-84% 缺失基因数据差距 | ApoEε4 是缩小剩余差距的关键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Helvetica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